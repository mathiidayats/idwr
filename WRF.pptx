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FCE81-A36B-4E8F-8265-7B18629F9782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CB465-7AA3-4AFC-8AF0-9529AB61C6B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8256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14565-B28F-BFD1-6EAA-20FE0657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3CBEE-6150-E1F9-3AF1-35E3BB77E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DEF6D-FE7E-E73F-7EE4-64B924C4C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4AEEE-9ED5-AE8A-1DA5-8A258A279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1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4E244-71CF-CAB9-E1C5-AB83885C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B6FEE-64A6-0C4C-8366-14D353696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27143-37E6-2B9D-EE87-C1FDCB030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9485F-8C06-B9D8-9E53-A558C24A3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27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0B33-0A15-B2E4-1407-61DBFB72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263DC-6BFA-0401-A3DC-1E68DB258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7BF7F-CA45-7349-674E-3283E8550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F2499-3C30-95F4-AD18-7FB3C2E6D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37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FC0D-0D95-2140-0481-837F79AE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5F7E8-9987-8924-1725-080A97FA5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0F8E1-8C3B-23A6-68F0-C06303011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42CFE-042E-4C7A-36E5-7BEBA0605F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7A09-DB05-E4E5-62D9-19154538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97DFB-49AA-3F5A-22B4-B45253A09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70246-F676-8F24-12B4-6D35A38BC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A44CF-72C4-338F-36DB-E1636F033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52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8069-282E-A211-CA24-9C7F492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800AD-17E5-DE9C-99E1-D1F984879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476D5-1A1E-C9CA-A12E-A1B79AA8F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7B8E3-F7ED-C225-A798-75DD0187C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21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6DC5F-3D02-77E0-99ED-FCC1B14E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4619F-B93D-7A61-F9BB-B56AA7A8A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75BBE-1A80-D6FF-2ADB-66814C283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81EEC-2135-871E-8647-6F1917D12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EABC-C600-455F-F995-31EA8CA4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D9163-200E-293C-1E14-0B0942BDA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85D0-D729-D6C0-5CDD-CF4F92EDC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99BDE-E213-4C39-01D4-508B6DCB7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68C5-7F3F-6DA2-01D3-70DF6DA9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6054A-4A5B-FF81-3C19-3CA6A71E0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4DE65-5B63-7E15-6DF7-545D6D01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5ABAD-4843-09B7-3AD6-4C3830764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39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462B-F83B-7FAA-D03F-1EB3A3A82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B5DCD-B179-E972-07BC-307BE203B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38D10-0692-25B8-E732-411E7490E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52717-BF64-C0ED-538B-0BF030090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465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7568-77CA-9819-8DB2-FB16E492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C7AC3-9320-5D50-8562-9958BCE5A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D04C0-8267-1A09-4D51-67446764C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E9270-CBD9-43A3-4CCC-CDBF41D59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979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F423-F979-38E9-5005-1B06A6D5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355AE-826F-D049-428D-610B9095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AAFC4-78DD-5C4C-2758-0877D9070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6D74-0BFF-87AF-B0CF-18A7BB377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92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A173-509C-8CE1-613C-552E99B22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0D2C3-6AAF-BE93-FCE6-666185CB6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FC0A9-759D-BBD7-8AE0-2FE5D5AB0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60405-0FE6-6338-3A62-E2A68A1E1E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1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B22A-418B-86A8-4953-DE0E5D325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916E2-DC3E-14E7-7AE5-709B32DEC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DB26-041E-4A8E-5A2E-CE2064CB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1939E-BE0C-18FB-ED50-5ABE7B79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FF45-0832-F181-3CB0-3A48212D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3622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316E-3A03-6F01-80CF-D7BFB9BB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AB0D-0FD6-EE48-0F98-4A232A8A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A301C-811D-4101-4903-BA24D280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8C3E-3BA5-437E-6D49-0E133C11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916-929E-A58C-610D-924C5B0A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297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FCD6-D270-6E4A-8564-B178E94B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FE47E-7880-C10B-0A6C-20CA99E51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558D2-A3BA-377D-3DA9-607D7C8C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EF645-5A06-61B1-4FD2-36AE79D5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8B290-2F7D-1E64-1A6B-1168C176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517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8F05-8A36-5424-503A-E94311A0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4B7F-1ECC-5545-CA59-18002A97F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96D7-94AE-075E-12CA-07AF077D8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88179-08AA-AA7E-5CD4-AF24EDC7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C9E25-C8E1-2013-D83D-725173D9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8036E-BCF6-456B-5EAA-ACE34C6D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325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D042-3BA3-1DBF-3AF6-D5288C2D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92770-B40D-87DB-E912-D8F9D1BD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27BC5-7CCB-8AC2-CCD0-78128BD86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90BE5-5562-9E9E-A5ED-D99F55171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6D381-1104-D3A7-391D-3E918590E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F5C404-02F4-3F71-0A90-31540921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3E8FB2-40E8-CB7F-0306-D8DACFDB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B87CC-DFC5-C712-15EA-2EA0BE0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9429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C413-EA95-E74F-162C-9CDD3AE0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D55B1-99A9-0C13-1F8E-9B8CC6E3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9B97D-D5AE-5DCC-7F0C-E7F5BBBB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3E634-0F9F-AC66-1A60-2BDDFEC9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81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893C7-1BA5-CC0C-6C9E-AAB36816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2C390-9FED-46C4-2AFB-9566A80B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854B6-E741-0929-2AA5-D3CD0119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086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D2C0-B5F7-20D5-094F-5AE5D22A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C747-10FB-988D-3FF2-E0B2B521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B72E9-5593-020B-C609-694E48DB5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74655-3D22-D755-AD43-9107A203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8F36F-449D-0FE6-E332-4FD53118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46DC6-D22C-DF01-FA45-F72A737E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568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F05EF-5B24-A5C4-8EC6-1CA6FA45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89BCE-4203-BC51-9C49-4A8EC3D1D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7386C-C0F8-A7F1-1F4A-F376EF91E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AEFF1-C28D-6F3A-5EF0-DC64CEB9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1C9B1-97C5-3C06-C1F4-5E9861BC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78BC-868F-C7ED-014A-A3215104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845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6D38-6D57-5D4C-BBDF-F01676A7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730B3-6551-F91F-5F26-C65D3529A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BF248-3372-9A70-F9B5-B83F8BEE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69BC9-061B-F837-FD2E-10D9CD63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A918-E0B3-B277-0553-CA795EB6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65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9A060-CF21-7019-0CF6-9A8CA9560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5652C-4609-D039-B631-67CC23059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157C1-9C22-0F4E-E9EE-8020F664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3164-04E8-4509-EF69-CB7FF6CD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D2E8E-253B-253E-3883-E7821D1F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9086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63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FAF18-8E59-D112-2D09-1961859B5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D64B1-381C-35F1-CFF9-6342EA5F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BC4A-B6D8-2667-2DFC-4EC5C1D8D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077F3-B547-4763-8AF1-0CC6E0E37330}" type="datetimeFigureOut">
              <a:rPr lang="en-ID" smtClean="0"/>
              <a:t>28/04/2026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858F-415B-2542-0F03-7FDBF7470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7C407-B26E-39ED-6BE4-6FEF5CD0A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63E43-018F-4D51-9335-5D53D35AAE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301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wrf-model/WP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ithub.com/wrf-model/WR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.id/wrf-dat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91225"/>
          </a:solidFill>
          <a:ln/>
        </p:spPr>
      </p:sp>
      <p:sp>
        <p:nvSpPr>
          <p:cNvPr id="4" name="Shape 2"/>
          <p:cNvSpPr/>
          <p:nvPr/>
        </p:nvSpPr>
        <p:spPr>
          <a:xfrm>
            <a:off x="670560" y="1889760"/>
            <a:ext cx="97536" cy="304800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3901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9014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WRF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3633216"/>
            <a:ext cx="3901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2400" i="1" dirty="0">
                <a:solidFill>
                  <a:srgbClr val="CADCFC"/>
                </a:solidFill>
              </a:rPr>
              <a:t>Weather Research</a:t>
            </a:r>
            <a:endParaRPr lang="en-US" sz="2400" i="1" dirty="0"/>
          </a:p>
          <a:p>
            <a:pPr>
              <a:lnSpc>
                <a:spcPct val="120000"/>
              </a:lnSpc>
            </a:pPr>
            <a:r>
              <a:rPr lang="en-US" sz="2400" i="1" dirty="0">
                <a:solidFill>
                  <a:srgbClr val="CADCFC"/>
                </a:solidFill>
              </a:rPr>
              <a:t>&amp; Forecasting</a:t>
            </a:r>
            <a:endParaRPr lang="en-US" sz="2400" i="1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39014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 err="1">
                <a:solidFill>
                  <a:srgbClr val="90A4AE"/>
                </a:solidFill>
              </a:rPr>
              <a:t>Install,simulasi</a:t>
            </a:r>
            <a:r>
              <a:rPr lang="en-US" sz="1600" i="1" dirty="0">
                <a:solidFill>
                  <a:srgbClr val="90A4AE"/>
                </a:solidFill>
              </a:rPr>
              <a:t>, </a:t>
            </a:r>
            <a:r>
              <a:rPr lang="en-US" sz="1600" i="1" dirty="0" err="1">
                <a:solidFill>
                  <a:srgbClr val="90A4AE"/>
                </a:solidFill>
              </a:rPr>
              <a:t>visualisasi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609600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47360" y="731520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5547360" y="731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193536" y="670560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Instalasi Library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3536" y="1011936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zlib · NetCDF · MPI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1548384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47360" y="1670304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6" name="Text 14"/>
          <p:cNvSpPr/>
          <p:nvPr/>
        </p:nvSpPr>
        <p:spPr>
          <a:xfrm>
            <a:off x="5547360" y="16703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6193536" y="1609344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Kompilasi WRF/WPS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3536" y="1950720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gfortran · ARW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2487168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7360" y="2609088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1" name="Text 19"/>
          <p:cNvSpPr/>
          <p:nvPr/>
        </p:nvSpPr>
        <p:spPr>
          <a:xfrm>
            <a:off x="5547360" y="2609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193536" y="2548128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Data Meteorologi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3536" y="2889504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GFS · ERA5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425952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7360" y="3547872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6" name="Text 24"/>
          <p:cNvSpPr/>
          <p:nvPr/>
        </p:nvSpPr>
        <p:spPr>
          <a:xfrm>
            <a:off x="5547360" y="35478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193536" y="3486912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Konfigurasi Domain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93536" y="3828288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namelist.wps / .input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4364736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7360" y="4486656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1" name="Text 29"/>
          <p:cNvSpPr/>
          <p:nvPr/>
        </p:nvSpPr>
        <p:spPr>
          <a:xfrm>
            <a:off x="5547360" y="4486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5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6193536" y="4425696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Jalankan Simulasi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93536" y="4767072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real.exe · wrf.exe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5303520"/>
            <a:ext cx="6096000" cy="79248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7360" y="5425440"/>
            <a:ext cx="512064" cy="512064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6" name="Text 34"/>
          <p:cNvSpPr/>
          <p:nvPr/>
        </p:nvSpPr>
        <p:spPr>
          <a:xfrm>
            <a:off x="5547360" y="5425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6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6193536" y="5364480"/>
            <a:ext cx="46329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Visualisasi Output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3536" y="5705856"/>
            <a:ext cx="4632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0A4AE"/>
                </a:solidFill>
              </a:rPr>
              <a:t>R Programming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63398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445566"/>
                </a:solidFill>
              </a:rPr>
              <a:t>Pemodelan Iklim Regional  ·  WRF v4.x  ·  Linux Ubuntu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Statistical and Dynamical </a:t>
            </a:r>
            <a:r>
              <a:rPr lang="en-US" sz="3200" b="1" dirty="0" err="1">
                <a:solidFill>
                  <a:srgbClr val="FFFFFF"/>
                </a:solidFill>
              </a:rPr>
              <a:t>Downsacling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73152"/>
          </a:xfrm>
          <a:prstGeom prst="rect">
            <a:avLst/>
          </a:prstGeom>
          <a:solidFill>
            <a:srgbClr val="4DD0E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6224" y="2011680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libpng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4768" y="2011680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jasper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73312" y="2011680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HDF5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680" y="4084320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NetCDF-C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16224" y="4084320"/>
            <a:ext cx="2621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NetCDF-Fortran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023360" y="4084320"/>
            <a:ext cx="43891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MPICH</a:t>
            </a:r>
            <a:endParaRPr lang="en-US" sz="1600" dirty="0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6A8E674-9458-EAA8-7476-20D310498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110553"/>
              </p:ext>
            </p:extLst>
          </p:nvPr>
        </p:nvGraphicFramePr>
        <p:xfrm>
          <a:off x="347133" y="1314438"/>
          <a:ext cx="11497734" cy="518513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832578">
                  <a:extLst>
                    <a:ext uri="{9D8B030D-6E8A-4147-A177-3AD203B41FA5}">
                      <a16:colId xmlns:a16="http://schemas.microsoft.com/office/drawing/2014/main" val="1518052936"/>
                    </a:ext>
                  </a:extLst>
                </a:gridCol>
                <a:gridCol w="3832578">
                  <a:extLst>
                    <a:ext uri="{9D8B030D-6E8A-4147-A177-3AD203B41FA5}">
                      <a16:colId xmlns:a16="http://schemas.microsoft.com/office/drawing/2014/main" val="1540755016"/>
                    </a:ext>
                  </a:extLst>
                </a:gridCol>
                <a:gridCol w="3832578">
                  <a:extLst>
                    <a:ext uri="{9D8B030D-6E8A-4147-A177-3AD203B41FA5}">
                      <a16:colId xmlns:a16="http://schemas.microsoft.com/office/drawing/2014/main" val="1377884419"/>
                    </a:ext>
                  </a:extLst>
                </a:gridCol>
              </a:tblGrid>
              <a:tr h="29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Aspek</a:t>
                      </a:r>
                      <a:endParaRPr lang="en-ID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Statistical Downscaling</a:t>
                      </a:r>
                      <a:endParaRPr lang="en-ID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Dynamical Downscaling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13764"/>
                  </a:ext>
                </a:extLst>
              </a:tr>
              <a:tr h="5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Prinsip dasar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Hubungan </a:t>
                      </a:r>
                      <a:r>
                        <a:rPr lang="sv-SE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statistik</a:t>
                      </a:r>
                      <a:r>
                        <a:rPr lang="sv-SE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antara variabel skala besar dan lokal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Simulasi </a:t>
                      </a:r>
                      <a:r>
                        <a:rPr lang="en-ID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proses fisik atmosfer</a:t>
                      </a:r>
                      <a:endParaRPr lang="en-ID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901715793"/>
                  </a:ext>
                </a:extLst>
              </a:tr>
              <a:tr h="29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yang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digunakan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statistik / machine learning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 Climate Model (RCM)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964806778"/>
                  </a:ext>
                </a:extLst>
              </a:tr>
              <a:tr h="41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utama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Predictor dari GCM + data observasi lokal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Boundary condition dari GCM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500969901"/>
                  </a:ext>
                </a:extLst>
              </a:tr>
              <a:tr h="5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Mekanisme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Belajar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hubungan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historis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(predictors)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Menyelesaikan persamaan fisika atmosfer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68274154"/>
                  </a:ext>
                </a:extLst>
              </a:tr>
              <a:tr h="526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Contoh metode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Regression, Quantile Mapping, ML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WRF,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RegCM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CORDEX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637925872"/>
                  </a:ext>
                </a:extLst>
              </a:tr>
              <a:tr h="29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Kebutuhan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observasi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Sangat </a:t>
                      </a:r>
                      <a:r>
                        <a:rPr lang="en-ID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diperlukan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training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selalu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diperlukan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518008541"/>
                  </a:ext>
                </a:extLst>
              </a:tr>
              <a:tr h="29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Komputasi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Ringan</a:t>
                      </a:r>
                      <a:endParaRPr lang="en-ID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Sangat berat (HPC)</a:t>
                      </a:r>
                      <a:endParaRPr lang="en-ID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422469895"/>
                  </a:ext>
                </a:extLst>
              </a:tr>
              <a:tr h="41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Kemampuan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representasi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proses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fisik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Terbatas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Sangat baik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227468477"/>
                  </a:ext>
                </a:extLst>
              </a:tr>
              <a:tr h="416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Sensitivitas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perubahan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iklim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Bergantung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asumsi</a:t>
                      </a: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stationarity</a:t>
                      </a:r>
                      <a:endParaRPr lang="en-ID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 konsisten secara fisik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197052820"/>
                  </a:ext>
                </a:extLst>
              </a:tr>
              <a:tr h="29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Waktu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Cepat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9256985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/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PERSIAPAN SISTEM LINUX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297641" y="62036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FF8F00"/>
                </a:solidFill>
              </a:rPr>
              <a:t>SPESIFIKASI MINIMUM</a:t>
            </a:r>
            <a:endParaRPr lang="en-US" sz="12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0CA386-2555-849A-378D-809360F16396}"/>
              </a:ext>
            </a:extLst>
          </p:cNvPr>
          <p:cNvGrpSpPr/>
          <p:nvPr/>
        </p:nvGrpSpPr>
        <p:grpSpPr>
          <a:xfrm>
            <a:off x="297641" y="1071469"/>
            <a:ext cx="5486400" cy="2231136"/>
            <a:chOff x="487680" y="1731264"/>
            <a:chExt cx="5486400" cy="2231136"/>
          </a:xfrm>
        </p:grpSpPr>
        <p:sp>
          <p:nvSpPr>
            <p:cNvPr id="6" name="Shape 4"/>
            <p:cNvSpPr/>
            <p:nvPr/>
          </p:nvSpPr>
          <p:spPr>
            <a:xfrm>
              <a:off x="487680" y="1731264"/>
              <a:ext cx="5486400" cy="512064"/>
            </a:xfrm>
            <a:prstGeom prst="rect">
              <a:avLst/>
            </a:prstGeom>
            <a:solidFill>
              <a:srgbClr val="0D1F3C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609600" y="1840992"/>
              <a:ext cx="146304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00ACC1"/>
                  </a:solidFill>
                </a:rPr>
                <a:t>CPU</a:t>
              </a:r>
              <a:endParaRPr lang="en-US" sz="1333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133600" y="1840992"/>
              <a:ext cx="353568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dirty="0">
                  <a:solidFill>
                    <a:srgbClr val="FFFFFF"/>
                  </a:solidFill>
                </a:rPr>
                <a:t>8 core (min. 4)</a:t>
              </a:r>
              <a:endParaRPr lang="en-US" sz="1333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87680" y="2304288"/>
              <a:ext cx="5486400" cy="512064"/>
            </a:xfrm>
            <a:prstGeom prst="rect">
              <a:avLst/>
            </a:prstGeom>
            <a:solidFill>
              <a:srgbClr val="122640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609600" y="2414016"/>
              <a:ext cx="146304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00ACC1"/>
                  </a:solidFill>
                </a:rPr>
                <a:t>RAM</a:t>
              </a:r>
              <a:endParaRPr lang="en-US" sz="1333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133600" y="2414016"/>
              <a:ext cx="353568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dirty="0">
                  <a:solidFill>
                    <a:srgbClr val="FFFFFF"/>
                  </a:solidFill>
                </a:rPr>
                <a:t>32 GB (min. 16 GB)</a:t>
              </a:r>
              <a:endParaRPr lang="en-US" sz="1333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87680" y="2877312"/>
              <a:ext cx="5486400" cy="512064"/>
            </a:xfrm>
            <a:prstGeom prst="rect">
              <a:avLst/>
            </a:prstGeom>
            <a:solidFill>
              <a:srgbClr val="0D1F3C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609600" y="2987040"/>
              <a:ext cx="146304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00ACC1"/>
                  </a:solidFill>
                </a:rPr>
                <a:t>Storage</a:t>
              </a:r>
              <a:endParaRPr lang="en-US" sz="1333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133600" y="2987040"/>
              <a:ext cx="353568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dirty="0">
                  <a:solidFill>
                    <a:srgbClr val="FFFFFF"/>
                  </a:solidFill>
                </a:rPr>
                <a:t>200 GB SSD</a:t>
              </a:r>
              <a:endParaRPr lang="en-US" sz="1333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87680" y="3450336"/>
              <a:ext cx="5486400" cy="512064"/>
            </a:xfrm>
            <a:prstGeom prst="rect">
              <a:avLst/>
            </a:prstGeom>
            <a:solidFill>
              <a:srgbClr val="122640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09600" y="3560064"/>
              <a:ext cx="146304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00ACC1"/>
                  </a:solidFill>
                </a:rPr>
                <a:t>OS</a:t>
              </a:r>
              <a:endParaRPr lang="en-US" sz="1333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133600" y="3560064"/>
              <a:ext cx="3535680" cy="3169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dirty="0">
                  <a:solidFill>
                    <a:srgbClr val="FFFFFF"/>
                  </a:solidFill>
                </a:rPr>
                <a:t>Ubuntu 20.04/22.04 LTS</a:t>
              </a:r>
              <a:endParaRPr lang="en-US" sz="1333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297641" y="329650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FF8F00"/>
                </a:solidFill>
              </a:rPr>
              <a:t>LANGKAH SETUP</a:t>
            </a:r>
            <a:endParaRPr lang="en-US" sz="120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D4E7EF43-2D7C-FDB8-F877-7B1EC47CF631}"/>
              </a:ext>
            </a:extLst>
          </p:cNvPr>
          <p:cNvSpPr/>
          <p:nvPr/>
        </p:nvSpPr>
        <p:spPr>
          <a:xfrm>
            <a:off x="297641" y="3656173"/>
            <a:ext cx="5120640" cy="245228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/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open PowerShell dan Install WSL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wsl.exe -–install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update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sistem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apt-get update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sudo</a:t>
            </a:r>
            <a:r>
              <a:rPr lang="en-US" sz="1400" dirty="0"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apt-get upgrade –y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install compiler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dasar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-y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g++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gfortran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make m4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perl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curl tar</a:t>
            </a:r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D1E285D9-C4B5-061B-B116-6E017D86A7FF}"/>
              </a:ext>
            </a:extLst>
          </p:cNvPr>
          <p:cNvSpPr/>
          <p:nvPr/>
        </p:nvSpPr>
        <p:spPr>
          <a:xfrm>
            <a:off x="5808980" y="696262"/>
            <a:ext cx="6319520" cy="605983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/>
          <a:lstStyle/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Masuk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directory home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untuk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membuat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$HOME</a:t>
            </a:r>
          </a:p>
          <a:p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WRF-Model 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buat folder 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WRF-Model    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 WRF-Model</a:t>
            </a:r>
          </a:p>
          <a:p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Mengunduh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source code WPS dan WRF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dari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GitHub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ID" sz="1400" u="sng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https://www.github.com/wrf-model/WPS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ID" sz="1400" u="sng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https://www.github.com/wrf-model/WRF</a:t>
            </a:r>
            <a:endParaRPr lang="nb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cek! WRF-Model berisi folder WPS dan WRF</a:t>
            </a:r>
          </a:p>
          <a:p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Membuat folder data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mkdir data</a:t>
            </a: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pindah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current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directori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“.”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mv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/c/Users/m2tau/WRF-Model/LIBRARIES* .</a:t>
            </a:r>
          </a:p>
          <a:p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ID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LIBRARIES-20260312T175252Z-3-001.zip  WPS  WRF  data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unzip dan mv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unzip LIBRARIES-20260313T093910Z-3-001.zip</a:t>
            </a:r>
          </a:p>
          <a:p>
            <a:endParaRPr lang="en-ID" sz="1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pindahkan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.zip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 LIBRARIES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mv LIBRARIES-20260312T175252Z-3-001.zip* LIBRARIES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ID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LIBRARIES  WPS  WRF 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EF810-06CD-B1F3-A30A-26883C99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4B638F-225C-5C6E-022C-40059C2A034D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27EF9D-637E-490A-B13D-BDE51A875590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PERSIAPAN SISTEM LINUX</a:t>
            </a:r>
            <a:endParaRPr lang="en-US" sz="3467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94BA7671-4877-0464-B9D8-7AD8CF4F534B}"/>
              </a:ext>
            </a:extLst>
          </p:cNvPr>
          <p:cNvSpPr/>
          <p:nvPr/>
        </p:nvSpPr>
        <p:spPr>
          <a:xfrm>
            <a:off x="306532" y="1298706"/>
            <a:ext cx="10631638" cy="244356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/>
          <a:lstStyle/>
          <a:p>
            <a:r>
              <a:rPr lang="nb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data</a:t>
            </a: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pindahkan data statik wps ke folder data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mv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/c/Users/m2tau/Downloads/geog_high_res_with_noahmp.tar.gz ~/WRF-Model/data/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ID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geog_high_res_mandatory.tar.gz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extract</a:t>
            </a: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gunzip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geog_high_res_mandatory.tar.gz</a:t>
            </a: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tar -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xf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geog_high_res_mandatory.tar</a:t>
            </a:r>
          </a:p>
          <a:p>
            <a:r>
              <a:rPr lang="nb-NO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.. # Kembali ke folder WRF-Model</a:t>
            </a: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1180F1-7C28-28C9-2A1A-E5111D7AFE98}"/>
              </a:ext>
            </a:extLst>
          </p:cNvPr>
          <p:cNvSpPr txBox="1"/>
          <p:nvPr/>
        </p:nvSpPr>
        <p:spPr>
          <a:xfrm>
            <a:off x="227798" y="635126"/>
            <a:ext cx="11852442" cy="663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statik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wajib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diunduh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menjalankan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WRF. Isi data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ini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seperti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tipe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permukaan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lahan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nilai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Leaf Area Index (LAI),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tipe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tanah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dan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elevasi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permukaan</a:t>
            </a:r>
            <a:r>
              <a:rPr lang="en-ID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A2D23D-339A-1DC4-A213-E110A3369C5C}"/>
              </a:ext>
            </a:extLst>
          </p:cNvPr>
          <p:cNvSpPr txBox="1"/>
          <p:nvPr/>
        </p:nvSpPr>
        <p:spPr>
          <a:xfrm>
            <a:off x="306532" y="3915260"/>
            <a:ext cx="7347335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buat folder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baru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 E:</a:t>
            </a: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-p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/e/WRF-DATA</a:t>
            </a: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chown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-R $USER:$USER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/e/WRF-DATA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pindahkan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file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baru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mv ~/WRF-Model/data/geog_high_res_mandatory.tar.gz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/e/WRF-DATA/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65D1D3-B1EC-95F9-6641-71485F02A87E}"/>
              </a:ext>
            </a:extLst>
          </p:cNvPr>
          <p:cNvSpPr txBox="1"/>
          <p:nvPr/>
        </p:nvSpPr>
        <p:spPr>
          <a:xfrm>
            <a:off x="7788570" y="5475712"/>
            <a:ext cx="3218448" cy="10625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ini sudah tersedia di dalam link: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u="sng" kern="100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https://s.id/wrf-data</a:t>
            </a:r>
            <a:r>
              <a:rPr lang="nb-NO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ID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7FB55E-099B-A603-4062-B9BF472CB623}"/>
              </a:ext>
            </a:extLst>
          </p:cNvPr>
          <p:cNvSpPr txBox="1"/>
          <p:nvPr/>
        </p:nvSpPr>
        <p:spPr>
          <a:xfrm>
            <a:off x="306531" y="5206761"/>
            <a:ext cx="7347335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masuk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</a:t>
            </a:r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folder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baru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cd /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/e/WRF-DATA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ID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cek</a:t>
            </a:r>
            <a:endParaRPr lang="en-ID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</a:p>
          <a:p>
            <a:r>
              <a:rPr lang="en-ID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geog_high_res_with_noahmp.tar.gz</a:t>
            </a:r>
          </a:p>
          <a:p>
            <a:r>
              <a:rPr lang="en-ID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extract</a:t>
            </a:r>
          </a:p>
          <a:p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gunzip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geog_high_res_with_noahmp.tar.gz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CF2F19-1A52-C0DC-D4DD-5AA55EF3445B}"/>
              </a:ext>
            </a:extLst>
          </p:cNvPr>
          <p:cNvSpPr txBox="1"/>
          <p:nvPr/>
        </p:nvSpPr>
        <p:spPr>
          <a:xfrm>
            <a:off x="7788570" y="3874349"/>
            <a:ext cx="2811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Jika C: </a:t>
            </a:r>
            <a:r>
              <a:rPr lang="en-ID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cukup</a:t>
            </a:r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kita</a:t>
            </a:r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bisa</a:t>
            </a:r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extract di E: </a:t>
            </a:r>
            <a:r>
              <a:rPr lang="en-ID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 D:</a:t>
            </a:r>
            <a:endParaRPr lang="en-ID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89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4392-1603-0E50-31B9-E8836A892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7CBFB3-EDDA-3EFA-AC31-07C9232405EB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E826AA-D6C9-A00E-8F3A-DE7074E6925F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Install Package</a:t>
            </a:r>
            <a:endParaRPr lang="en-US" sz="3467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0C6F6E47-6874-45A0-1209-ED3ADDA15BCB}"/>
              </a:ext>
            </a:extLst>
          </p:cNvPr>
          <p:cNvSpPr/>
          <p:nvPr/>
        </p:nvSpPr>
        <p:spPr>
          <a:xfrm>
            <a:off x="375380" y="1354736"/>
            <a:ext cx="11348533" cy="18358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/>
          <a:lstStyle/>
          <a:p>
            <a:r>
              <a:rPr lang="en-ID" dirty="0" err="1">
                <a:latin typeface="Courier"/>
              </a:rPr>
              <a:t>sudo</a:t>
            </a:r>
            <a:r>
              <a:rPr lang="en-ID" dirty="0">
                <a:latin typeface="Courier"/>
              </a:rPr>
              <a:t> apt update</a:t>
            </a:r>
          </a:p>
          <a:p>
            <a:r>
              <a:rPr lang="en-ID" dirty="0" err="1">
                <a:latin typeface="Courier"/>
              </a:rPr>
              <a:t>sudo</a:t>
            </a:r>
            <a:r>
              <a:rPr lang="en-ID" dirty="0">
                <a:latin typeface="Courier"/>
              </a:rPr>
              <a:t> apt install -y </a:t>
            </a:r>
            <a:r>
              <a:rPr lang="en-ID" dirty="0" err="1">
                <a:latin typeface="Courier"/>
              </a:rPr>
              <a:t>autoconf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automake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libtool</a:t>
            </a:r>
            <a:r>
              <a:rPr lang="en-ID" dirty="0">
                <a:latin typeface="Courier"/>
              </a:rPr>
              <a:t> m4 make g++ </a:t>
            </a:r>
            <a:r>
              <a:rPr lang="en-ID" dirty="0" err="1">
                <a:latin typeface="Courier"/>
              </a:rPr>
              <a:t>gfortran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gcc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csh</a:t>
            </a:r>
            <a:endParaRPr lang="en-ID" dirty="0">
              <a:latin typeface="Courier"/>
            </a:endParaRPr>
          </a:p>
          <a:p>
            <a:r>
              <a:rPr lang="en-ID" dirty="0" err="1">
                <a:latin typeface="Courier"/>
              </a:rPr>
              <a:t>sudo</a:t>
            </a:r>
            <a:r>
              <a:rPr lang="en-ID" dirty="0">
                <a:latin typeface="Courier"/>
              </a:rPr>
              <a:t> apt install -y build-essential </a:t>
            </a:r>
            <a:r>
              <a:rPr lang="en-ID" dirty="0" err="1">
                <a:latin typeface="Courier"/>
              </a:rPr>
              <a:t>csh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gfortran</a:t>
            </a:r>
            <a:r>
              <a:rPr lang="en-ID" dirty="0">
                <a:latin typeface="Courier"/>
              </a:rPr>
              <a:t> m4 make </a:t>
            </a:r>
            <a:r>
              <a:rPr lang="en-ID" dirty="0" err="1">
                <a:latin typeface="Courier"/>
              </a:rPr>
              <a:t>perl</a:t>
            </a:r>
            <a:r>
              <a:rPr lang="en-ID" dirty="0">
                <a:latin typeface="Courier"/>
              </a:rPr>
              <a:t> tar </a:t>
            </a:r>
            <a:r>
              <a:rPr lang="en-ID" dirty="0" err="1">
                <a:latin typeface="Courier"/>
              </a:rPr>
              <a:t>wget</a:t>
            </a:r>
            <a:r>
              <a:rPr lang="en-ID" dirty="0">
                <a:latin typeface="Courier"/>
              </a:rPr>
              <a:t> curl \</a:t>
            </a:r>
          </a:p>
          <a:p>
            <a:r>
              <a:rPr lang="en-ID" dirty="0">
                <a:latin typeface="Courier"/>
              </a:rPr>
              <a:t>git file </a:t>
            </a:r>
            <a:r>
              <a:rPr lang="en-ID" dirty="0" err="1">
                <a:latin typeface="Courier"/>
              </a:rPr>
              <a:t>cpp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gcc</a:t>
            </a:r>
            <a:r>
              <a:rPr lang="en-ID" dirty="0">
                <a:latin typeface="Courier"/>
              </a:rPr>
              <a:t> g++ patch </a:t>
            </a:r>
            <a:r>
              <a:rPr lang="en-ID" dirty="0" err="1">
                <a:latin typeface="Courier"/>
              </a:rPr>
              <a:t>xz</a:t>
            </a:r>
            <a:r>
              <a:rPr lang="en-ID" dirty="0">
                <a:latin typeface="Courier"/>
              </a:rPr>
              <a:t>-utils bzip2 flex </a:t>
            </a:r>
            <a:r>
              <a:rPr lang="en-ID" dirty="0" err="1">
                <a:latin typeface="Courier"/>
              </a:rPr>
              <a:t>byacc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tcsh</a:t>
            </a:r>
            <a:r>
              <a:rPr lang="en-ID" dirty="0">
                <a:latin typeface="Courier"/>
              </a:rPr>
              <a:t> time \</a:t>
            </a:r>
          </a:p>
          <a:p>
            <a:r>
              <a:rPr lang="en-ID" dirty="0">
                <a:latin typeface="Courier"/>
              </a:rPr>
              <a:t>python3 unzip </a:t>
            </a:r>
            <a:r>
              <a:rPr lang="en-ID" dirty="0" err="1">
                <a:latin typeface="Courier"/>
              </a:rPr>
              <a:t>cmake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mlocate</a:t>
            </a:r>
            <a:endParaRPr lang="en-ID" dirty="0">
              <a:latin typeface="Courier"/>
            </a:endParaRPr>
          </a:p>
          <a:p>
            <a:r>
              <a:rPr lang="en-ID" dirty="0" err="1">
                <a:latin typeface="Courier"/>
              </a:rPr>
              <a:t>sudo</a:t>
            </a:r>
            <a:r>
              <a:rPr lang="en-ID" dirty="0">
                <a:latin typeface="Courier"/>
              </a:rPr>
              <a:t> apt install -y libx11-dev </a:t>
            </a:r>
            <a:r>
              <a:rPr lang="en-ID" dirty="0" err="1">
                <a:latin typeface="Courier"/>
              </a:rPr>
              <a:t>libxt</a:t>
            </a:r>
            <a:r>
              <a:rPr lang="en-ID" dirty="0">
                <a:latin typeface="Courier"/>
              </a:rPr>
              <a:t>-dev libxml2-dev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7745E-F48A-D11F-8B4B-F15CEC878973}"/>
              </a:ext>
            </a:extLst>
          </p:cNvPr>
          <p:cNvSpPr txBox="1"/>
          <p:nvPr/>
        </p:nvSpPr>
        <p:spPr>
          <a:xfrm>
            <a:off x="386080" y="663473"/>
            <a:ext cx="11430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600" b="0" i="0" u="none" strike="noStrike" baseline="0" dirty="0" err="1">
                <a:latin typeface="Courier"/>
              </a:rPr>
              <a:t>Instalasi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beberapa</a:t>
            </a:r>
            <a:r>
              <a:rPr lang="en-ID" sz="1600" b="0" i="0" u="none" strike="noStrike" baseline="0" dirty="0">
                <a:latin typeface="Courier"/>
              </a:rPr>
              <a:t> package </a:t>
            </a:r>
            <a:r>
              <a:rPr lang="en-ID" sz="1600" b="0" i="0" u="none" strike="noStrike" baseline="0" dirty="0" err="1">
                <a:latin typeface="Courier"/>
              </a:rPr>
              <a:t>meliputi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highlight>
                  <a:srgbClr val="FFFF00"/>
                </a:highlight>
                <a:latin typeface="Courier"/>
              </a:rPr>
              <a:t>zlib</a:t>
            </a:r>
            <a:r>
              <a:rPr lang="en-ID" sz="1600" b="0" i="0" u="none" strike="noStrike" baseline="0" dirty="0">
                <a:latin typeface="Courier"/>
              </a:rPr>
              <a:t>, </a:t>
            </a:r>
            <a:r>
              <a:rPr lang="en-ID" sz="1600" b="0" i="0" u="none" strike="noStrike" baseline="0" dirty="0" err="1">
                <a:highlight>
                  <a:srgbClr val="FFFF00"/>
                </a:highlight>
                <a:latin typeface="Courier"/>
              </a:rPr>
              <a:t>libpng</a:t>
            </a:r>
            <a:r>
              <a:rPr lang="en-ID" sz="1600" b="0" i="0" u="none" strike="noStrike" baseline="0" dirty="0">
                <a:latin typeface="Courier"/>
              </a:rPr>
              <a:t>, </a:t>
            </a:r>
            <a:r>
              <a:rPr lang="en-ID" sz="1600" b="0" i="0" u="none" strike="noStrike" baseline="0" dirty="0">
                <a:highlight>
                  <a:srgbClr val="FFFF00"/>
                </a:highlight>
                <a:latin typeface="Courier"/>
              </a:rPr>
              <a:t>jasper</a:t>
            </a:r>
            <a:r>
              <a:rPr lang="en-ID" sz="1600" b="0" i="0" u="none" strike="noStrike" baseline="0" dirty="0">
                <a:latin typeface="Courier"/>
              </a:rPr>
              <a:t>, </a:t>
            </a:r>
            <a:r>
              <a:rPr lang="en-ID" sz="1600" b="0" i="0" u="none" strike="noStrike" baseline="0" dirty="0">
                <a:highlight>
                  <a:srgbClr val="FFFF00"/>
                </a:highlight>
                <a:latin typeface="Courier"/>
              </a:rPr>
              <a:t>hdf5</a:t>
            </a:r>
            <a:r>
              <a:rPr lang="en-ID" sz="1600" b="0" i="0" u="none" strike="noStrike" baseline="0" dirty="0">
                <a:latin typeface="Courier"/>
              </a:rPr>
              <a:t>, </a:t>
            </a:r>
            <a:r>
              <a:rPr lang="en-ID" sz="1600" b="0" i="0" u="none" strike="noStrike" baseline="0" dirty="0" err="1">
                <a:highlight>
                  <a:srgbClr val="FFFF00"/>
                </a:highlight>
                <a:latin typeface="Courier"/>
              </a:rPr>
              <a:t>netcdf</a:t>
            </a:r>
            <a:r>
              <a:rPr lang="en-ID" sz="1600" b="0" i="0" u="none" strike="noStrike" baseline="0" dirty="0">
                <a:highlight>
                  <a:srgbClr val="FFFF00"/>
                </a:highlight>
                <a:latin typeface="Courier"/>
              </a:rPr>
              <a:t>-c</a:t>
            </a:r>
            <a:r>
              <a:rPr lang="en-ID" sz="1600" b="0" i="0" u="none" strike="noStrike" baseline="0" dirty="0">
                <a:latin typeface="Courier"/>
              </a:rPr>
              <a:t>, dan </a:t>
            </a:r>
            <a:r>
              <a:rPr lang="en-ID" sz="1600" b="0" i="0" u="none" strike="noStrike" baseline="0" dirty="0" err="1">
                <a:highlight>
                  <a:srgbClr val="FFFF00"/>
                </a:highlight>
                <a:latin typeface="Courier"/>
              </a:rPr>
              <a:t>netcdf-fortran</a:t>
            </a:r>
            <a:r>
              <a:rPr lang="en-ID" sz="1600" b="0" i="0" u="none" strike="noStrike" baseline="0" dirty="0">
                <a:latin typeface="Courier"/>
              </a:rPr>
              <a:t>. </a:t>
            </a:r>
            <a:r>
              <a:rPr lang="en-ID" sz="1600" b="0" i="0" u="none" strike="noStrike" baseline="0" dirty="0" err="1">
                <a:latin typeface="Courier"/>
              </a:rPr>
              <a:t>Perlu</a:t>
            </a:r>
            <a:r>
              <a:rPr lang="en-ID" sz="160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diperhatikan</a:t>
            </a:r>
            <a:r>
              <a:rPr lang="en-ID" sz="1600" b="0" i="0" u="none" strike="noStrike" baseline="0" dirty="0">
                <a:latin typeface="Courier"/>
              </a:rPr>
              <a:t> dan </a:t>
            </a:r>
            <a:r>
              <a:rPr lang="en-ID" sz="1600" b="0" i="0" u="none" strike="noStrike" baseline="0" dirty="0" err="1">
                <a:latin typeface="Courier"/>
              </a:rPr>
              <a:t>lihat</a:t>
            </a:r>
            <a:r>
              <a:rPr lang="en-ID" sz="1600" b="0" i="0" u="none" strike="noStrike" baseline="0" dirty="0">
                <a:latin typeface="Courier"/>
              </a:rPr>
              <a:t> pada terminal </a:t>
            </a:r>
            <a:r>
              <a:rPr lang="en-ID" sz="1600" b="0" i="0" u="none" strike="noStrike" baseline="0" dirty="0" err="1">
                <a:latin typeface="Courier"/>
              </a:rPr>
              <a:t>bahwa</a:t>
            </a:r>
            <a:r>
              <a:rPr lang="en-ID" sz="1600" b="0" i="0" u="none" strike="noStrike" baseline="0" dirty="0">
                <a:latin typeface="Courier"/>
              </a:rPr>
              <a:t> Anda </a:t>
            </a:r>
            <a:r>
              <a:rPr lang="en-ID" sz="1600" b="0" i="0" u="none" strike="noStrike" baseline="0" dirty="0" err="1">
                <a:latin typeface="Courier"/>
              </a:rPr>
              <a:t>berada</a:t>
            </a:r>
            <a:r>
              <a:rPr lang="en-ID" sz="1600" b="0" i="0" u="none" strike="noStrike" baseline="0" dirty="0">
                <a:latin typeface="Courier"/>
              </a:rPr>
              <a:t> di folder ~/WRF-Model.</a:t>
            </a:r>
            <a:endParaRPr lang="en-ID" sz="1600" dirty="0">
              <a:latin typeface="Couri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894D9-E670-945E-C997-8E60E3DB7457}"/>
              </a:ext>
            </a:extLst>
          </p:cNvPr>
          <p:cNvSpPr txBox="1"/>
          <p:nvPr/>
        </p:nvSpPr>
        <p:spPr>
          <a:xfrm>
            <a:off x="8492671" y="4239211"/>
            <a:ext cx="3586480" cy="2308324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ID" sz="1800" b="0" i="0" u="none" strike="noStrike" baseline="0" dirty="0">
                <a:latin typeface="Courier"/>
              </a:rPr>
              <a:t>Langkah </a:t>
            </a:r>
            <a:r>
              <a:rPr lang="en-ID" sz="1800" b="0" i="0" u="none" strike="noStrike" baseline="0" dirty="0" err="1">
                <a:latin typeface="Courier"/>
              </a:rPr>
              <a:t>ini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wajib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dilakukan</a:t>
            </a:r>
            <a:r>
              <a:rPr lang="en-ID" sz="1800" b="0" i="0" u="none" strike="noStrike" baseline="0" dirty="0">
                <a:latin typeface="Courier"/>
              </a:rPr>
              <a:t> pada </a:t>
            </a:r>
            <a:r>
              <a:rPr lang="en-ID" sz="1800" b="0" i="0" u="none" strike="noStrike" baseline="0" dirty="0" err="1">
                <a:latin typeface="Courier"/>
              </a:rPr>
              <a:t>saat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melakukan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instalasi</a:t>
            </a:r>
            <a:r>
              <a:rPr lang="en-ID" sz="1800" b="0" i="0" u="none" strike="noStrike" baseline="0" dirty="0">
                <a:latin typeface="Courier"/>
              </a:rPr>
              <a:t> package, WRF, dan WPS. </a:t>
            </a:r>
            <a:r>
              <a:rPr lang="en-ID" sz="1800" b="0" i="0" u="none" strike="noStrike" baseline="0" dirty="0" err="1">
                <a:latin typeface="Courier"/>
              </a:rPr>
              <a:t>Pendefinisian</a:t>
            </a:r>
            <a:endParaRPr lang="en-ID" sz="1800" b="0" i="0" u="none" strike="noStrike" baseline="0" dirty="0">
              <a:latin typeface="Courier"/>
            </a:endParaRPr>
          </a:p>
          <a:p>
            <a:pPr algn="l"/>
            <a:r>
              <a:rPr lang="en-ID" sz="1800" b="1" i="0" u="none" strike="noStrike" baseline="0" dirty="0">
                <a:latin typeface="Courier"/>
              </a:rPr>
              <a:t>ENVIRONMENT VARIABLE </a:t>
            </a:r>
            <a:r>
              <a:rPr lang="en-ID" sz="1800" b="0" i="0" u="none" strike="noStrike" baseline="0" dirty="0" err="1">
                <a:latin typeface="Courier"/>
              </a:rPr>
              <a:t>ini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berlaku</a:t>
            </a:r>
            <a:r>
              <a:rPr lang="en-ID" sz="1800" b="0" i="0" u="none" strike="noStrike" baseline="0" dirty="0">
                <a:latin typeface="Courier"/>
              </a:rPr>
              <a:t> </a:t>
            </a:r>
            <a:r>
              <a:rPr lang="en-ID" sz="1800" b="0" i="0" u="none" strike="noStrike" baseline="0" dirty="0" err="1">
                <a:latin typeface="Courier"/>
              </a:rPr>
              <a:t>untuk</a:t>
            </a:r>
            <a:r>
              <a:rPr lang="en-ID" sz="1800" b="0" i="0" u="none" strike="noStrike" baseline="0" dirty="0">
                <a:latin typeface="Courier"/>
              </a:rPr>
              <a:t> GNU </a:t>
            </a:r>
            <a:r>
              <a:rPr lang="en-ID" sz="1800" b="0" i="0" u="none" strike="noStrike" baseline="0" dirty="0" err="1">
                <a:latin typeface="Courier"/>
              </a:rPr>
              <a:t>maupun</a:t>
            </a:r>
            <a:r>
              <a:rPr lang="en-ID" sz="1800" b="0" i="0" u="none" strike="noStrike" baseline="0" dirty="0">
                <a:latin typeface="Courier"/>
              </a:rPr>
              <a:t> Intel.</a:t>
            </a:r>
            <a:endParaRPr lang="en-ID" dirty="0">
              <a:latin typeface="Couri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46E542-2C89-4211-668A-E76640EFEB9E}"/>
              </a:ext>
            </a:extLst>
          </p:cNvPr>
          <p:cNvSpPr txBox="1"/>
          <p:nvPr/>
        </p:nvSpPr>
        <p:spPr>
          <a:xfrm>
            <a:off x="375380" y="3183217"/>
            <a:ext cx="10586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D" dirty="0">
                <a:latin typeface="Courier"/>
              </a:rPr>
              <a:t>n</a:t>
            </a:r>
            <a:r>
              <a:rPr lang="en-ID" sz="1800" b="0" i="0" u="none" strike="noStrike" baseline="0" dirty="0">
                <a:latin typeface="Courier"/>
              </a:rPr>
              <a:t>ano environment.sh</a:t>
            </a:r>
          </a:p>
          <a:p>
            <a:pPr marL="342900" indent="-342900">
              <a:buAutoNum type="arabicPeriod"/>
            </a:pPr>
            <a:r>
              <a:rPr lang="en-ID" dirty="0">
                <a:latin typeface="Courier"/>
              </a:rPr>
              <a:t>Masukkan </a:t>
            </a:r>
            <a:r>
              <a:rPr lang="en-ID" dirty="0" err="1">
                <a:latin typeface="Courier"/>
              </a:rPr>
              <a:t>beberapa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perintah</a:t>
            </a:r>
            <a:endParaRPr lang="en-ID" dirty="0">
              <a:latin typeface="Courier"/>
            </a:endParaRPr>
          </a:p>
          <a:p>
            <a:r>
              <a:rPr lang="sv-SE" b="1" dirty="0">
                <a:latin typeface="Courier"/>
              </a:rPr>
              <a:t>ENVIRONMENT VARIABEL </a:t>
            </a:r>
            <a:r>
              <a:rPr lang="sv-SE" dirty="0">
                <a:latin typeface="Courier"/>
              </a:rPr>
              <a:t>di bawah ini dengan perintah export</a:t>
            </a:r>
            <a:r>
              <a:rPr lang="en-ID" dirty="0">
                <a:latin typeface="Courier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0F352-AA53-C3BE-93C7-223C6CEF1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45" b="62182"/>
          <a:stretch>
            <a:fillRect/>
          </a:stretch>
        </p:blipFill>
        <p:spPr>
          <a:xfrm>
            <a:off x="375380" y="4106547"/>
            <a:ext cx="7686750" cy="257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7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2B04-53CB-0BB1-7242-35CF2EFA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A972CD-F300-76CD-AD61-027730D47FEF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273796-46C9-5BD9-5470-30E929762A05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Install Package</a:t>
            </a:r>
            <a:endParaRPr lang="en-US" sz="3467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871ECB-AEED-9E76-08B9-D0BC119D58FE}"/>
              </a:ext>
            </a:extLst>
          </p:cNvPr>
          <p:cNvSpPr txBox="1"/>
          <p:nvPr/>
        </p:nvSpPr>
        <p:spPr>
          <a:xfrm>
            <a:off x="197580" y="709080"/>
            <a:ext cx="5314220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"/>
              </a:rPr>
              <a:t># 0. Buka folder libraries</a:t>
            </a:r>
          </a:p>
          <a:p>
            <a:r>
              <a:rPr lang="en-ID" sz="1600" dirty="0">
                <a:latin typeface="Courier"/>
              </a:rPr>
              <a:t>cd $ODIR/LIBRARIES</a:t>
            </a:r>
          </a:p>
          <a:p>
            <a:r>
              <a:rPr lang="en-ID" sz="1600" dirty="0">
                <a:latin typeface="Courier"/>
              </a:rPr>
              <a:t># 1. Extract</a:t>
            </a:r>
          </a:p>
          <a:p>
            <a:r>
              <a:rPr lang="en-ID" sz="1600" dirty="0">
                <a:latin typeface="Courier"/>
              </a:rPr>
              <a:t>tar -</a:t>
            </a:r>
            <a:r>
              <a:rPr lang="en-ID" sz="1600" dirty="0" err="1">
                <a:latin typeface="Courier"/>
              </a:rPr>
              <a:t>xf</a:t>
            </a:r>
            <a:r>
              <a:rPr lang="en-ID" sz="1600" dirty="0">
                <a:latin typeface="Courier"/>
              </a:rPr>
              <a:t> zlib-1.3.tar.gz</a:t>
            </a:r>
          </a:p>
          <a:p>
            <a:r>
              <a:rPr lang="en-ID" sz="1600" dirty="0">
                <a:latin typeface="Courier"/>
              </a:rPr>
              <a:t># 2. Buka folder </a:t>
            </a:r>
            <a:r>
              <a:rPr lang="en-ID" sz="1600" dirty="0" err="1">
                <a:latin typeface="Courier"/>
              </a:rPr>
              <a:t>hasil</a:t>
            </a:r>
            <a:r>
              <a:rPr lang="en-ID" sz="1600" dirty="0">
                <a:latin typeface="Courier"/>
              </a:rPr>
              <a:t> </a:t>
            </a:r>
            <a:r>
              <a:rPr lang="en-ID" sz="1600" dirty="0" err="1">
                <a:latin typeface="Courier"/>
              </a:rPr>
              <a:t>ekstrak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cd zlib-1.3</a:t>
            </a:r>
          </a:p>
          <a:p>
            <a:r>
              <a:rPr lang="en-ID" sz="1600" dirty="0">
                <a:latin typeface="Courier"/>
              </a:rPr>
              <a:t># 3. </a:t>
            </a:r>
            <a:r>
              <a:rPr lang="en-ID" sz="1600" dirty="0" err="1">
                <a:latin typeface="Courier"/>
              </a:rPr>
              <a:t>Konfigurasi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CC=</a:t>
            </a:r>
            <a:r>
              <a:rPr lang="en-ID" sz="1600" dirty="0" err="1">
                <a:latin typeface="Courier"/>
              </a:rPr>
              <a:t>gcc</a:t>
            </a:r>
            <a:r>
              <a:rPr lang="en-ID" sz="1600" dirty="0">
                <a:latin typeface="Courier"/>
              </a:rPr>
              <a:t> </a:t>
            </a:r>
            <a:r>
              <a:rPr lang="en-ID" sz="1600" b="1" dirty="0">
                <a:latin typeface="Courier"/>
              </a:rPr>
              <a:t>./configure </a:t>
            </a:r>
            <a:r>
              <a:rPr lang="en-ID" sz="1600" dirty="0">
                <a:latin typeface="Courier"/>
              </a:rPr>
              <a:t>--prefix=$ODIR</a:t>
            </a:r>
          </a:p>
          <a:p>
            <a:r>
              <a:rPr lang="en-ID" sz="1600" dirty="0">
                <a:latin typeface="Courier"/>
              </a:rPr>
              <a:t># 4. </a:t>
            </a:r>
            <a:r>
              <a:rPr lang="en-ID" sz="1600" dirty="0" err="1">
                <a:latin typeface="Courier"/>
              </a:rPr>
              <a:t>Instalasi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make check install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4A42B-ECE2-3960-AD73-56935E4CAD13}"/>
              </a:ext>
            </a:extLst>
          </p:cNvPr>
          <p:cNvSpPr txBox="1"/>
          <p:nvPr/>
        </p:nvSpPr>
        <p:spPr>
          <a:xfrm>
            <a:off x="197580" y="3373238"/>
            <a:ext cx="5314220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"/>
              </a:rPr>
              <a:t># 0. Buka folder libraries</a:t>
            </a:r>
          </a:p>
          <a:p>
            <a:r>
              <a:rPr lang="en-ID" sz="1600" dirty="0">
                <a:latin typeface="Courier"/>
              </a:rPr>
              <a:t>cd $ODIR/LIBRARIES</a:t>
            </a:r>
          </a:p>
          <a:p>
            <a:r>
              <a:rPr lang="en-ID" sz="1600" dirty="0">
                <a:latin typeface="Courier"/>
              </a:rPr>
              <a:t># 1. Extract</a:t>
            </a:r>
          </a:p>
          <a:p>
            <a:r>
              <a:rPr lang="en-ID" sz="1600" dirty="0">
                <a:latin typeface="Courier"/>
              </a:rPr>
              <a:t>tar -</a:t>
            </a:r>
            <a:r>
              <a:rPr lang="en-ID" sz="1600" dirty="0" err="1">
                <a:latin typeface="Courier"/>
              </a:rPr>
              <a:t>xf</a:t>
            </a:r>
            <a:r>
              <a:rPr lang="en-ID" sz="1600" dirty="0">
                <a:latin typeface="Courier"/>
              </a:rPr>
              <a:t> libpng-1.6.40.tar.gz</a:t>
            </a:r>
          </a:p>
          <a:p>
            <a:r>
              <a:rPr lang="en-ID" sz="1600" dirty="0">
                <a:latin typeface="Courier"/>
              </a:rPr>
              <a:t># 2. Buka folder </a:t>
            </a:r>
            <a:r>
              <a:rPr lang="en-ID" sz="1600" dirty="0" err="1">
                <a:latin typeface="Courier"/>
              </a:rPr>
              <a:t>hasil</a:t>
            </a:r>
            <a:r>
              <a:rPr lang="en-ID" sz="1600" dirty="0">
                <a:latin typeface="Courier"/>
              </a:rPr>
              <a:t> </a:t>
            </a:r>
            <a:r>
              <a:rPr lang="en-ID" sz="1600" dirty="0" err="1">
                <a:latin typeface="Courier"/>
              </a:rPr>
              <a:t>ekstrak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cd libpng-1.6.40</a:t>
            </a:r>
          </a:p>
          <a:p>
            <a:r>
              <a:rPr lang="en-ID" sz="1600" dirty="0">
                <a:latin typeface="Courier"/>
              </a:rPr>
              <a:t># 3. </a:t>
            </a:r>
            <a:r>
              <a:rPr lang="en-ID" sz="1600" dirty="0" err="1">
                <a:latin typeface="Courier"/>
              </a:rPr>
              <a:t>Konfigurasi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CC=</a:t>
            </a:r>
            <a:r>
              <a:rPr lang="en-ID" sz="1600" dirty="0" err="1">
                <a:latin typeface="Courier"/>
              </a:rPr>
              <a:t>gcc</a:t>
            </a:r>
            <a:r>
              <a:rPr lang="en-ID" sz="1600" dirty="0">
                <a:latin typeface="Courier"/>
              </a:rPr>
              <a:t> ./configure --prefix=$ODIR</a:t>
            </a:r>
          </a:p>
          <a:p>
            <a:r>
              <a:rPr lang="en-ID" sz="1600" dirty="0">
                <a:latin typeface="Courier"/>
              </a:rPr>
              <a:t># 4. </a:t>
            </a:r>
            <a:r>
              <a:rPr lang="en-ID" sz="1600" dirty="0" err="1">
                <a:latin typeface="Courier"/>
              </a:rPr>
              <a:t>Instalasi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make check install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12C927-69FB-196F-F4ED-BF7717EC6457}"/>
              </a:ext>
            </a:extLst>
          </p:cNvPr>
          <p:cNvSpPr txBox="1"/>
          <p:nvPr/>
        </p:nvSpPr>
        <p:spPr>
          <a:xfrm>
            <a:off x="6680200" y="653503"/>
            <a:ext cx="531422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"/>
              </a:rPr>
              <a:t># 0. Buka folder libraries</a:t>
            </a:r>
          </a:p>
          <a:p>
            <a:r>
              <a:rPr lang="en-ID" sz="1600" dirty="0">
                <a:latin typeface="Courier"/>
              </a:rPr>
              <a:t>cd $ODIR/LIBRARIES</a:t>
            </a:r>
          </a:p>
          <a:p>
            <a:r>
              <a:rPr lang="en-ID" sz="1600" dirty="0">
                <a:latin typeface="Courier"/>
              </a:rPr>
              <a:t># 1. Extract</a:t>
            </a:r>
          </a:p>
          <a:p>
            <a:r>
              <a:rPr lang="en-ID" sz="1600" dirty="0">
                <a:latin typeface="Courier"/>
              </a:rPr>
              <a:t>tar -</a:t>
            </a:r>
            <a:r>
              <a:rPr lang="en-ID" sz="1600" dirty="0" err="1">
                <a:latin typeface="Courier"/>
              </a:rPr>
              <a:t>xf</a:t>
            </a:r>
            <a:r>
              <a:rPr lang="en-ID" sz="1600" dirty="0">
                <a:latin typeface="Courier"/>
              </a:rPr>
              <a:t> jasper-1.900.1.tar.gz</a:t>
            </a:r>
          </a:p>
          <a:p>
            <a:r>
              <a:rPr lang="en-ID" sz="1600" dirty="0">
                <a:latin typeface="Courier"/>
              </a:rPr>
              <a:t># 2. Buka folder </a:t>
            </a:r>
            <a:r>
              <a:rPr lang="en-ID" sz="1600" dirty="0" err="1">
                <a:latin typeface="Courier"/>
              </a:rPr>
              <a:t>hasil</a:t>
            </a:r>
            <a:r>
              <a:rPr lang="en-ID" sz="1600" dirty="0">
                <a:latin typeface="Courier"/>
              </a:rPr>
              <a:t> </a:t>
            </a:r>
            <a:r>
              <a:rPr lang="en-ID" sz="1600" dirty="0" err="1">
                <a:latin typeface="Courier"/>
              </a:rPr>
              <a:t>ekstrak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cd jasper-1.900.1</a:t>
            </a:r>
          </a:p>
          <a:p>
            <a:r>
              <a:rPr lang="en-ID" sz="1600" dirty="0">
                <a:latin typeface="Courier"/>
              </a:rPr>
              <a:t># 3. </a:t>
            </a:r>
            <a:r>
              <a:rPr lang="en-ID" sz="1600" dirty="0" err="1">
                <a:latin typeface="Courier"/>
              </a:rPr>
              <a:t>Konfigurasi</a:t>
            </a:r>
            <a:endParaRPr lang="en-ID" sz="1600" dirty="0">
              <a:latin typeface="Courier"/>
            </a:endParaRPr>
          </a:p>
          <a:p>
            <a:r>
              <a:rPr lang="en-ID" sz="1600" dirty="0" err="1">
                <a:latin typeface="Courier"/>
              </a:rPr>
              <a:t>autoreconf</a:t>
            </a:r>
            <a:r>
              <a:rPr lang="en-ID" sz="1600" dirty="0">
                <a:latin typeface="Courier"/>
              </a:rPr>
              <a:t> -</a:t>
            </a:r>
            <a:r>
              <a:rPr lang="en-ID" sz="1600" dirty="0" err="1">
                <a:latin typeface="Courier"/>
              </a:rPr>
              <a:t>i</a:t>
            </a:r>
            <a:r>
              <a:rPr lang="en-ID" sz="1600" dirty="0">
                <a:latin typeface="Courier"/>
              </a:rPr>
              <a:t> -f</a:t>
            </a:r>
          </a:p>
          <a:p>
            <a:r>
              <a:rPr lang="en-ID" sz="1600" dirty="0">
                <a:latin typeface="Courier"/>
              </a:rPr>
              <a:t>CC=</a:t>
            </a:r>
            <a:r>
              <a:rPr lang="en-ID" sz="1600" dirty="0" err="1">
                <a:latin typeface="Courier"/>
              </a:rPr>
              <a:t>gcc</a:t>
            </a:r>
            <a:r>
              <a:rPr lang="en-ID" sz="1600" dirty="0">
                <a:latin typeface="Courier"/>
              </a:rPr>
              <a:t> ./configure --prefix=$ODIR</a:t>
            </a:r>
          </a:p>
          <a:p>
            <a:r>
              <a:rPr lang="en-ID" sz="1600" dirty="0" err="1">
                <a:latin typeface="Courier"/>
              </a:rPr>
              <a:t>automake</a:t>
            </a:r>
            <a:r>
              <a:rPr lang="en-ID" sz="1600" dirty="0">
                <a:latin typeface="Courier"/>
              </a:rPr>
              <a:t> -a -f</a:t>
            </a:r>
          </a:p>
          <a:p>
            <a:r>
              <a:rPr lang="en-ID" sz="1600" dirty="0">
                <a:latin typeface="Courier"/>
              </a:rPr>
              <a:t># 4. </a:t>
            </a:r>
            <a:r>
              <a:rPr lang="en-ID" sz="1600" dirty="0" err="1">
                <a:latin typeface="Courier"/>
              </a:rPr>
              <a:t>Instalasi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make check install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5FBF0-2095-9D5A-97A1-AB6BDCE3E059}"/>
              </a:ext>
            </a:extLst>
          </p:cNvPr>
          <p:cNvSpPr txBox="1"/>
          <p:nvPr/>
        </p:nvSpPr>
        <p:spPr>
          <a:xfrm>
            <a:off x="6680200" y="3771729"/>
            <a:ext cx="531422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"/>
              </a:rPr>
              <a:t># 0. Buka folder libraries</a:t>
            </a:r>
          </a:p>
          <a:p>
            <a:r>
              <a:rPr lang="en-ID" sz="1600" dirty="0">
                <a:latin typeface="Courier"/>
              </a:rPr>
              <a:t>cd $ODIR/LIBRARIES</a:t>
            </a:r>
          </a:p>
          <a:p>
            <a:r>
              <a:rPr lang="en-ID" sz="1600" dirty="0">
                <a:latin typeface="Courier"/>
              </a:rPr>
              <a:t># 1. Extract</a:t>
            </a:r>
          </a:p>
          <a:p>
            <a:r>
              <a:rPr lang="en-ID" sz="1600" dirty="0">
                <a:latin typeface="Courier"/>
              </a:rPr>
              <a:t>tar -</a:t>
            </a:r>
            <a:r>
              <a:rPr lang="en-ID" sz="1600" dirty="0" err="1">
                <a:latin typeface="Courier"/>
              </a:rPr>
              <a:t>xf</a:t>
            </a:r>
            <a:r>
              <a:rPr lang="en-ID" sz="1600" dirty="0">
                <a:latin typeface="Courier"/>
              </a:rPr>
              <a:t> openmpi-4.1.5.tar.gz</a:t>
            </a:r>
          </a:p>
          <a:p>
            <a:r>
              <a:rPr lang="nb-NO" sz="1600" dirty="0">
                <a:latin typeface="Courier"/>
              </a:rPr>
              <a:t># 2. Buka folder hasil ekstrak</a:t>
            </a:r>
            <a:endParaRPr lang="en-ID" sz="1600" dirty="0">
              <a:latin typeface="Courier"/>
            </a:endParaRPr>
          </a:p>
          <a:p>
            <a:r>
              <a:rPr lang="nb-NO" sz="1600" dirty="0">
                <a:latin typeface="Courier"/>
              </a:rPr>
              <a:t>cd openmpi-4.1.5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# 3. </a:t>
            </a:r>
            <a:r>
              <a:rPr lang="en-ID" sz="1600" dirty="0" err="1">
                <a:latin typeface="Courier"/>
              </a:rPr>
              <a:t>Konfigurasi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CC=</a:t>
            </a:r>
            <a:r>
              <a:rPr lang="en-ID" sz="1600" dirty="0" err="1">
                <a:latin typeface="Courier"/>
              </a:rPr>
              <a:t>gcc</a:t>
            </a:r>
            <a:r>
              <a:rPr lang="en-ID" sz="1600" dirty="0">
                <a:latin typeface="Courier"/>
              </a:rPr>
              <a:t> FC=</a:t>
            </a:r>
            <a:r>
              <a:rPr lang="en-ID" sz="1600" dirty="0" err="1">
                <a:latin typeface="Courier"/>
              </a:rPr>
              <a:t>gfortran</a:t>
            </a:r>
            <a:r>
              <a:rPr lang="en-ID" sz="1600" dirty="0">
                <a:latin typeface="Courier"/>
              </a:rPr>
              <a:t> </a:t>
            </a:r>
            <a:r>
              <a:rPr lang="en-ID" sz="1600" b="1" dirty="0">
                <a:latin typeface="Courier"/>
              </a:rPr>
              <a:t>./configure </a:t>
            </a:r>
            <a:r>
              <a:rPr lang="en-ID" sz="1600" dirty="0">
                <a:latin typeface="Courier"/>
              </a:rPr>
              <a:t>--prefix=$ODIR</a:t>
            </a:r>
          </a:p>
          <a:p>
            <a:r>
              <a:rPr lang="en-ID" sz="1600" dirty="0">
                <a:latin typeface="Courier"/>
              </a:rPr>
              <a:t># 4. </a:t>
            </a:r>
            <a:r>
              <a:rPr lang="en-ID" sz="1600" dirty="0" err="1">
                <a:latin typeface="Courier"/>
              </a:rPr>
              <a:t>Instalasi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make -j 4</a:t>
            </a:r>
          </a:p>
          <a:p>
            <a:r>
              <a:rPr lang="en-ID" sz="1600" dirty="0">
                <a:latin typeface="Courier"/>
              </a:rPr>
              <a:t>make -j 4 install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01045-11CB-E9AA-4562-D990846607CE}"/>
              </a:ext>
            </a:extLst>
          </p:cNvPr>
          <p:cNvSpPr txBox="1"/>
          <p:nvPr/>
        </p:nvSpPr>
        <p:spPr>
          <a:xfrm>
            <a:off x="4373880" y="816744"/>
            <a:ext cx="149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1. </a:t>
            </a:r>
            <a:r>
              <a:rPr lang="en-ID" sz="1800" b="1" dirty="0" err="1">
                <a:latin typeface="Courier"/>
              </a:rPr>
              <a:t>zlib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820A4-2A16-627F-3FDA-8811C8E63474}"/>
              </a:ext>
            </a:extLst>
          </p:cNvPr>
          <p:cNvSpPr txBox="1"/>
          <p:nvPr/>
        </p:nvSpPr>
        <p:spPr>
          <a:xfrm>
            <a:off x="3924300" y="3515825"/>
            <a:ext cx="158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2. </a:t>
            </a:r>
            <a:r>
              <a:rPr lang="en-ID" sz="1800" b="1" dirty="0" err="1">
                <a:latin typeface="Courier"/>
              </a:rPr>
              <a:t>libpng</a:t>
            </a:r>
            <a:endParaRPr lang="en-ID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14D8D-E53B-E652-AB90-476BEC29A0AE}"/>
              </a:ext>
            </a:extLst>
          </p:cNvPr>
          <p:cNvSpPr txBox="1"/>
          <p:nvPr/>
        </p:nvSpPr>
        <p:spPr>
          <a:xfrm>
            <a:off x="10565130" y="816744"/>
            <a:ext cx="158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3. jasper</a:t>
            </a:r>
            <a:endParaRPr lang="en-ID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2B636-FF01-5F25-818C-55F87CA4A7D8}"/>
              </a:ext>
            </a:extLst>
          </p:cNvPr>
          <p:cNvSpPr txBox="1"/>
          <p:nvPr/>
        </p:nvSpPr>
        <p:spPr>
          <a:xfrm>
            <a:off x="10465340" y="4004444"/>
            <a:ext cx="1587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4. </a:t>
            </a:r>
            <a:r>
              <a:rPr lang="en-ID" sz="1800" b="1" dirty="0" err="1">
                <a:latin typeface="Courier"/>
              </a:rPr>
              <a:t>openMPI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582474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9046-4088-E941-50A1-59347602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93179CE-25AE-6CF6-73AF-5CD4452F6CB4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Install Package</a:t>
            </a:r>
            <a:endParaRPr lang="en-US" sz="3467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C30F1-7CCA-3FA1-0F4F-960D27786D93}"/>
              </a:ext>
            </a:extLst>
          </p:cNvPr>
          <p:cNvSpPr txBox="1"/>
          <p:nvPr/>
        </p:nvSpPr>
        <p:spPr>
          <a:xfrm>
            <a:off x="211455" y="224496"/>
            <a:ext cx="531422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600" dirty="0">
                <a:latin typeface="Courier"/>
              </a:rPr>
              <a:t># 0. Buka folder libraries</a:t>
            </a:r>
          </a:p>
          <a:p>
            <a:r>
              <a:rPr lang="en-ID" sz="1600" dirty="0">
                <a:latin typeface="Courier"/>
              </a:rPr>
              <a:t>cd $ODIR/LIBRARIES</a:t>
            </a:r>
          </a:p>
          <a:p>
            <a:r>
              <a:rPr lang="en-ID" sz="1600" dirty="0">
                <a:latin typeface="Courier"/>
              </a:rPr>
              <a:t># 1. Extract</a:t>
            </a:r>
          </a:p>
          <a:p>
            <a:r>
              <a:rPr lang="en-ID" sz="1600" dirty="0">
                <a:latin typeface="Courier"/>
              </a:rPr>
              <a:t>tar -</a:t>
            </a:r>
            <a:r>
              <a:rPr lang="en-ID" sz="1600" dirty="0" err="1">
                <a:latin typeface="Courier"/>
              </a:rPr>
              <a:t>xf</a:t>
            </a:r>
            <a:r>
              <a:rPr lang="en-ID" sz="1600" dirty="0">
                <a:latin typeface="Courier"/>
              </a:rPr>
              <a:t> hdf5-1.14.2.tar.gz</a:t>
            </a:r>
          </a:p>
          <a:p>
            <a:r>
              <a:rPr lang="nb-NO" sz="1600" dirty="0">
                <a:latin typeface="Courier"/>
              </a:rPr>
              <a:t># 2. Buka folder hasil ekstrak</a:t>
            </a:r>
            <a:endParaRPr lang="en-ID" sz="1600" dirty="0">
              <a:latin typeface="Courier"/>
            </a:endParaRPr>
          </a:p>
          <a:p>
            <a:r>
              <a:rPr lang="nb-NO" sz="1600" dirty="0">
                <a:latin typeface="Courier"/>
              </a:rPr>
              <a:t>cd hdf5-1.14.2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# 3. </a:t>
            </a:r>
            <a:r>
              <a:rPr lang="en-ID" sz="1600" dirty="0" err="1">
                <a:latin typeface="Courier"/>
              </a:rPr>
              <a:t>Konfigurasi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CC=</a:t>
            </a:r>
            <a:r>
              <a:rPr lang="en-ID" sz="1600" dirty="0" err="1">
                <a:latin typeface="Courier"/>
              </a:rPr>
              <a:t>gcc</a:t>
            </a:r>
            <a:r>
              <a:rPr lang="en-ID" sz="1600" dirty="0">
                <a:latin typeface="Courier"/>
              </a:rPr>
              <a:t> FC=</a:t>
            </a:r>
            <a:r>
              <a:rPr lang="en-ID" sz="1600" dirty="0" err="1">
                <a:latin typeface="Courier"/>
              </a:rPr>
              <a:t>gfortran</a:t>
            </a:r>
            <a:r>
              <a:rPr lang="en-ID" sz="1600" dirty="0">
                <a:latin typeface="Courier"/>
              </a:rPr>
              <a:t> </a:t>
            </a:r>
            <a:r>
              <a:rPr lang="en-ID" sz="1600" b="1" dirty="0">
                <a:latin typeface="Courier"/>
              </a:rPr>
              <a:t>./configure </a:t>
            </a:r>
            <a:r>
              <a:rPr lang="en-ID" sz="1600" dirty="0">
                <a:latin typeface="Courier"/>
              </a:rPr>
              <a:t>--prefix=$ODIR --enable-</a:t>
            </a:r>
            <a:r>
              <a:rPr lang="en-ID" sz="1600" dirty="0" err="1">
                <a:latin typeface="Courier"/>
              </a:rPr>
              <a:t>fortran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# 4. </a:t>
            </a:r>
            <a:r>
              <a:rPr lang="en-ID" sz="1600" dirty="0" err="1">
                <a:latin typeface="Courier"/>
              </a:rPr>
              <a:t>Instalasi</a:t>
            </a:r>
            <a:endParaRPr lang="en-ID" sz="1600" dirty="0">
              <a:latin typeface="Courier"/>
            </a:endParaRPr>
          </a:p>
          <a:p>
            <a:r>
              <a:rPr lang="en-ID" sz="1600" dirty="0">
                <a:latin typeface="Courier"/>
              </a:rPr>
              <a:t>make -j 4</a:t>
            </a:r>
          </a:p>
          <a:p>
            <a:r>
              <a:rPr lang="en-ID" sz="1600" dirty="0">
                <a:latin typeface="Courier"/>
              </a:rPr>
              <a:t>make -j 4 install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96CBF-A28F-597E-B980-AD469EC647AC}"/>
              </a:ext>
            </a:extLst>
          </p:cNvPr>
          <p:cNvSpPr txBox="1"/>
          <p:nvPr/>
        </p:nvSpPr>
        <p:spPr>
          <a:xfrm>
            <a:off x="4387755" y="332160"/>
            <a:ext cx="149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5. hdf5</a:t>
            </a:r>
            <a:endParaRPr lang="en-ID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7EA6B-E769-CD42-B8AF-9007374BBB28}"/>
              </a:ext>
            </a:extLst>
          </p:cNvPr>
          <p:cNvGrpSpPr/>
          <p:nvPr/>
        </p:nvGrpSpPr>
        <p:grpSpPr>
          <a:xfrm>
            <a:off x="211455" y="3379148"/>
            <a:ext cx="7162800" cy="3139321"/>
            <a:chOff x="919035" y="3699590"/>
            <a:chExt cx="7162800" cy="3139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0C9412-20D4-B2EE-C447-0507CF8FFDED}"/>
                </a:ext>
              </a:extLst>
            </p:cNvPr>
            <p:cNvSpPr txBox="1"/>
            <p:nvPr/>
          </p:nvSpPr>
          <p:spPr>
            <a:xfrm>
              <a:off x="919035" y="3699590"/>
              <a:ext cx="7162800" cy="3139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ID" dirty="0" err="1">
                  <a:latin typeface="Courier"/>
                </a:rPr>
                <a:t>sudo</a:t>
              </a:r>
              <a:r>
                <a:rPr lang="en-ID" dirty="0">
                  <a:latin typeface="Courier"/>
                </a:rPr>
                <a:t> apt install -y libcurl4-openssl-dev curl</a:t>
              </a:r>
            </a:p>
            <a:p>
              <a:r>
                <a:rPr lang="en-ID" dirty="0">
                  <a:latin typeface="Courier"/>
                </a:rPr>
                <a:t># 0. Buka folder libraries</a:t>
              </a:r>
            </a:p>
            <a:p>
              <a:r>
                <a:rPr lang="en-ID" dirty="0">
                  <a:latin typeface="Courier"/>
                </a:rPr>
                <a:t>cd $ODIR/LIBRARIES</a:t>
              </a:r>
            </a:p>
            <a:p>
              <a:r>
                <a:rPr lang="en-ID" dirty="0">
                  <a:latin typeface="Courier"/>
                </a:rPr>
                <a:t># 1. Extract</a:t>
              </a:r>
            </a:p>
            <a:p>
              <a:r>
                <a:rPr lang="en-ID" dirty="0">
                  <a:latin typeface="Courier"/>
                </a:rPr>
                <a:t>tar -</a:t>
              </a:r>
              <a:r>
                <a:rPr lang="en-ID" dirty="0" err="1">
                  <a:latin typeface="Courier"/>
                </a:rPr>
                <a:t>xf</a:t>
              </a:r>
              <a:r>
                <a:rPr lang="en-ID" dirty="0">
                  <a:latin typeface="Courier"/>
                </a:rPr>
                <a:t> netcdf-c-4.9.2.tar.gz</a:t>
              </a:r>
            </a:p>
            <a:p>
              <a:r>
                <a:rPr lang="nb-NO" dirty="0">
                  <a:latin typeface="Courier"/>
                </a:rPr>
                <a:t># 2. Buka folder hasil ekstrak</a:t>
              </a:r>
              <a:endParaRPr lang="en-ID" dirty="0">
                <a:latin typeface="Courier"/>
              </a:endParaRPr>
            </a:p>
            <a:p>
              <a:r>
                <a:rPr lang="nb-NO" dirty="0">
                  <a:latin typeface="Courier"/>
                </a:rPr>
                <a:t>cd netcdf-c-4.9.2</a:t>
              </a:r>
              <a:endParaRPr lang="en-ID" dirty="0">
                <a:latin typeface="Courier"/>
              </a:endParaRPr>
            </a:p>
            <a:p>
              <a:r>
                <a:rPr lang="en-ID" dirty="0">
                  <a:latin typeface="Courier"/>
                </a:rPr>
                <a:t># 3. </a:t>
              </a:r>
              <a:r>
                <a:rPr lang="en-ID" dirty="0" err="1">
                  <a:latin typeface="Courier"/>
                </a:rPr>
                <a:t>Konfigurasi</a:t>
              </a:r>
              <a:endParaRPr lang="en-ID" dirty="0">
                <a:latin typeface="Courier"/>
              </a:endParaRPr>
            </a:p>
            <a:p>
              <a:r>
                <a:rPr lang="en-ID" dirty="0">
                  <a:latin typeface="Courier"/>
                </a:rPr>
                <a:t>CC=</a:t>
              </a:r>
              <a:r>
                <a:rPr lang="en-ID" dirty="0" err="1">
                  <a:latin typeface="Courier"/>
                </a:rPr>
                <a:t>gcc</a:t>
              </a:r>
              <a:r>
                <a:rPr lang="en-ID" dirty="0">
                  <a:latin typeface="Courier"/>
                </a:rPr>
                <a:t> </a:t>
              </a:r>
              <a:r>
                <a:rPr lang="en-ID" b="1" dirty="0">
                  <a:latin typeface="Courier"/>
                </a:rPr>
                <a:t>./configure </a:t>
              </a:r>
              <a:r>
                <a:rPr lang="en-ID" dirty="0">
                  <a:latin typeface="Courier"/>
                </a:rPr>
                <a:t>--prefix=$ODIR --disable-dap</a:t>
              </a:r>
            </a:p>
            <a:p>
              <a:r>
                <a:rPr lang="en-ID" dirty="0">
                  <a:latin typeface="Courier"/>
                </a:rPr>
                <a:t># 4. </a:t>
              </a:r>
              <a:r>
                <a:rPr lang="en-ID" dirty="0" err="1">
                  <a:latin typeface="Courier"/>
                </a:rPr>
                <a:t>Instalasi</a:t>
              </a:r>
              <a:endParaRPr lang="en-ID" dirty="0">
                <a:latin typeface="Courier"/>
              </a:endParaRPr>
            </a:p>
            <a:p>
              <a:r>
                <a:rPr lang="en-ID" dirty="0">
                  <a:latin typeface="Courier"/>
                </a:rPr>
                <a:t>make &amp;&amp; make install</a:t>
              </a:r>
              <a:endParaRPr lang="en-ID" sz="1600" dirty="0">
                <a:latin typeface="Courier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E19CEF-8391-9015-6D4C-7E88A3CB2C7C}"/>
                </a:ext>
              </a:extLst>
            </p:cNvPr>
            <p:cNvSpPr txBox="1"/>
            <p:nvPr/>
          </p:nvSpPr>
          <p:spPr>
            <a:xfrm>
              <a:off x="6233255" y="4516359"/>
              <a:ext cx="1587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D" sz="1800" b="1" dirty="0">
                  <a:latin typeface="Courier"/>
                </a:rPr>
                <a:t>6. </a:t>
              </a:r>
              <a:r>
                <a:rPr lang="en-ID" sz="1800" b="1" dirty="0" err="1">
                  <a:latin typeface="Courier"/>
                </a:rPr>
                <a:t>netcdf</a:t>
              </a:r>
              <a:endParaRPr lang="en-ID" b="1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664D124-9AA6-3EE9-2075-F2E119332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939" y="2051577"/>
            <a:ext cx="4500641" cy="406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4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F32B-4B0B-9DEE-691A-1EFB0CD1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422BD15-CB2F-6817-D51F-4F0B7382C94A}"/>
              </a:ext>
            </a:extLst>
          </p:cNvPr>
          <p:cNvSpPr txBox="1"/>
          <p:nvPr/>
        </p:nvSpPr>
        <p:spPr>
          <a:xfrm>
            <a:off x="303754" y="4293186"/>
            <a:ext cx="531422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dirty="0">
                <a:latin typeface="Courier"/>
              </a:rPr>
              <a:t>ls $ODIR/lib</a:t>
            </a:r>
          </a:p>
          <a:p>
            <a:r>
              <a:rPr lang="en-ID" dirty="0">
                <a:latin typeface="Courier"/>
              </a:rPr>
              <a:t>ls $ODIR/include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DEFAD-B781-4F04-F6C4-75F61894FDDE}"/>
              </a:ext>
            </a:extLst>
          </p:cNvPr>
          <p:cNvSpPr txBox="1"/>
          <p:nvPr/>
        </p:nvSpPr>
        <p:spPr>
          <a:xfrm>
            <a:off x="271780" y="507039"/>
            <a:ext cx="11272520" cy="3499163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0. Buka folder libraries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cd $ODIR/LIBRARIES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1. Extract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tar -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xf</a:t>
            </a: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netcdf-fortran-4.6.1.tar.gz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nb-NO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2. Buka folder hasil ekstrak</a:t>
            </a:r>
            <a:endParaRPr lang="en-ID" sz="16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nb-NO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cd netcdf-fortran-4.6.1</a:t>
            </a:r>
            <a:endParaRPr lang="en-ID" sz="16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3. 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Konfigurasi</a:t>
            </a:r>
            <a:endParaRPr lang="en-ID" sz="16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CC=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icc</a:t>
            </a: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FC=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ifort</a:t>
            </a: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CFLAGS='-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diag</a:t>
            </a: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-disable=10441' </a:t>
            </a:r>
            <a:r>
              <a:rPr lang="en-ID" sz="1600" b="1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./configure </a:t>
            </a: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--prefix=$ODIR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CC=</a:t>
            </a:r>
            <a:r>
              <a:rPr lang="en-US" dirty="0" err="1">
                <a:solidFill>
                  <a:srgbClr val="FF0000"/>
                </a:solidFill>
              </a:rPr>
              <a:t>gcc</a:t>
            </a:r>
            <a:r>
              <a:rPr lang="en-US" dirty="0">
                <a:solidFill>
                  <a:srgbClr val="FF0000"/>
                </a:solidFill>
              </a:rPr>
              <a:t> FC=</a:t>
            </a:r>
            <a:r>
              <a:rPr lang="en-US" dirty="0" err="1">
                <a:solidFill>
                  <a:srgbClr val="FF0000"/>
                </a:solidFill>
              </a:rPr>
              <a:t>gfortran</a:t>
            </a:r>
            <a:r>
              <a:rPr lang="en-US" dirty="0">
                <a:solidFill>
                  <a:srgbClr val="FF0000"/>
                </a:solidFill>
              </a:rPr>
              <a:t> ./configure --prefix=$ODIR --disable-shared</a:t>
            </a:r>
            <a:endParaRPr lang="en-ID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4. </a:t>
            </a:r>
            <a:r>
              <a:rPr lang="en-ID" sz="1600" kern="1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Instalasi</a:t>
            </a:r>
            <a:endParaRPr lang="en-ID" sz="16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en-ID" sz="1600" kern="1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make &amp;&amp; make install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FAF0C-F255-BC2A-C3EF-807AE05E9805}"/>
              </a:ext>
            </a:extLst>
          </p:cNvPr>
          <p:cNvSpPr txBox="1"/>
          <p:nvPr/>
        </p:nvSpPr>
        <p:spPr>
          <a:xfrm>
            <a:off x="271780" y="83915"/>
            <a:ext cx="2988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7. </a:t>
            </a:r>
            <a:r>
              <a:rPr lang="en-ID" sz="1800" b="1" dirty="0" err="1">
                <a:latin typeface="Courier"/>
              </a:rPr>
              <a:t>netcdf-fortran</a:t>
            </a:r>
            <a:endParaRPr lang="en-ID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3C074-B646-C0DE-1CD3-7BB01EB3BD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039" b="24608"/>
          <a:stretch>
            <a:fillRect/>
          </a:stretch>
        </p:blipFill>
        <p:spPr>
          <a:xfrm>
            <a:off x="5908040" y="3428761"/>
            <a:ext cx="5856194" cy="3393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6DC043-8C9F-47BF-55C8-4EF29D76B41B}"/>
              </a:ext>
            </a:extLst>
          </p:cNvPr>
          <p:cNvSpPr txBox="1"/>
          <p:nvPr/>
        </p:nvSpPr>
        <p:spPr>
          <a:xfrm>
            <a:off x="271780" y="3923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b="1" dirty="0">
                <a:latin typeface="Courier"/>
              </a:rPr>
              <a:t>Cek </a:t>
            </a:r>
            <a:r>
              <a:rPr lang="en-ID" sz="1800" b="1" dirty="0" err="1">
                <a:latin typeface="Courier"/>
              </a:rPr>
              <a:t>hasil</a:t>
            </a:r>
            <a:r>
              <a:rPr lang="en-ID" sz="1800" b="1" dirty="0">
                <a:latin typeface="Courier"/>
              </a:rPr>
              <a:t> install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05460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AE10-BA0C-C582-097C-02995562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D3E1E7-9E53-4E64-E920-7BCC7C7BDE9D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319F51-80A2-0DB2-FBB1-E6ED335955D9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Install WRF</a:t>
            </a:r>
            <a:endParaRPr lang="en-US" sz="34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CA407-E926-E5EE-3212-98884C053518}"/>
              </a:ext>
            </a:extLst>
          </p:cNvPr>
          <p:cNvSpPr txBox="1"/>
          <p:nvPr/>
        </p:nvSpPr>
        <p:spPr>
          <a:xfrm>
            <a:off x="139700" y="688727"/>
            <a:ext cx="9591040" cy="1500623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600" b="1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# Masuk </a:t>
            </a:r>
            <a:r>
              <a:rPr lang="en-ID" sz="1600" b="1" kern="100" dirty="0" err="1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ke</a:t>
            </a:r>
            <a:r>
              <a:rPr lang="en-ID" sz="1600" b="1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folder WRF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./configure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# Input manual: </a:t>
            </a:r>
            <a:r>
              <a:rPr lang="en-ID" sz="1600" kern="100" dirty="0" err="1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ketik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600" b="1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34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600" kern="100" dirty="0" err="1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lalu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Enter, </a:t>
            </a:r>
            <a:r>
              <a:rPr lang="en-ID" sz="1600" kern="100" dirty="0" err="1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ketik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600" b="1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600" kern="100" dirty="0" err="1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lalu</a:t>
            </a: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 Enter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600" kern="100" dirty="0">
                <a:effectLst/>
                <a:latin typeface="Courier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2C7B8-ECC7-3C40-166E-8A02AC76FB25}"/>
              </a:ext>
            </a:extLst>
          </p:cNvPr>
          <p:cNvSpPr txBox="1"/>
          <p:nvPr/>
        </p:nvSpPr>
        <p:spPr>
          <a:xfrm>
            <a:off x="139700" y="2243874"/>
            <a:ext cx="101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i-FI" sz="1600" b="0" i="0" u="none" strike="noStrike" baseline="0" dirty="0">
                <a:solidFill>
                  <a:srgbClr val="000000"/>
                </a:solidFill>
                <a:latin typeface="Courier"/>
              </a:rPr>
              <a:t>Untuk melakukan instalasi, ketik perintah ini.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1F5AB-D5FF-386F-027A-A1E22D0A3B5C}"/>
              </a:ext>
            </a:extLst>
          </p:cNvPr>
          <p:cNvSpPr txBox="1"/>
          <p:nvPr/>
        </p:nvSpPr>
        <p:spPr>
          <a:xfrm>
            <a:off x="8610465" y="2666460"/>
            <a:ext cx="35815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Proses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instalasi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WRF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berhasil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dilakukan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apabila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terdapat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file yang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berekstensi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.exe</a:t>
            </a:r>
            <a:endParaRPr lang="en-ID" sz="1600" dirty="0">
              <a:solidFill>
                <a:srgbClr val="000000"/>
              </a:solidFill>
              <a:latin typeface="Courier"/>
            </a:endParaRPr>
          </a:p>
          <a:p>
            <a:pPr algn="l"/>
            <a:endParaRPr lang="en-ID" sz="1600" b="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Anda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bisa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melihatnya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dengan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perintah</a:t>
            </a:r>
            <a:endParaRPr lang="en-ID" sz="1600" b="0" i="0" u="none" strike="noStrike" baseline="0" dirty="0">
              <a:solidFill>
                <a:srgbClr val="000000"/>
              </a:solidFill>
              <a:latin typeface="Couri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DD847-684A-53A1-6224-E32F8EA50EB9}"/>
              </a:ext>
            </a:extLst>
          </p:cNvPr>
          <p:cNvSpPr txBox="1"/>
          <p:nvPr/>
        </p:nvSpPr>
        <p:spPr>
          <a:xfrm>
            <a:off x="139700" y="2582428"/>
            <a:ext cx="6096000" cy="36933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>
                <a:solidFill>
                  <a:srgbClr val="D73B4A"/>
                </a:solidFill>
                <a:latin typeface="Courier"/>
              </a:rPr>
              <a:t>./compile </a:t>
            </a:r>
            <a:r>
              <a:rPr lang="pt-BR" sz="1800" b="0" i="0" u="none" strike="noStrike" baseline="0" dirty="0">
                <a:solidFill>
                  <a:srgbClr val="24292E"/>
                </a:solidFill>
                <a:latin typeface="Courier"/>
              </a:rPr>
              <a:t>em_real </a:t>
            </a:r>
            <a:r>
              <a:rPr lang="pt-BR" sz="1800" b="0" i="0" u="none" strike="noStrike" baseline="0" dirty="0">
                <a:solidFill>
                  <a:srgbClr val="D73B4A"/>
                </a:solidFill>
                <a:latin typeface="Courier"/>
              </a:rPr>
              <a:t>–j 2</a:t>
            </a:r>
            <a:endParaRPr lang="en-ID" sz="1800" dirty="0">
              <a:latin typeface="Courier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349C13-7FF3-593A-67A0-B967B95AD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3172436"/>
            <a:ext cx="8331065" cy="30489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1D0F4F-7930-1D2C-7D2E-534968ADB719}"/>
              </a:ext>
            </a:extLst>
          </p:cNvPr>
          <p:cNvSpPr txBox="1"/>
          <p:nvPr/>
        </p:nvSpPr>
        <p:spPr>
          <a:xfrm>
            <a:off x="8610465" y="4584779"/>
            <a:ext cx="2748415" cy="36933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ID" sz="1800" b="0" i="0" u="none" strike="noStrike" baseline="0" dirty="0">
                <a:solidFill>
                  <a:srgbClr val="7143C3"/>
                </a:solidFill>
                <a:latin typeface="Courier"/>
              </a:rPr>
              <a:t>ls </a:t>
            </a:r>
            <a:r>
              <a:rPr lang="en-ID" sz="1800" b="0" i="0" u="none" strike="noStrike" baseline="0" dirty="0">
                <a:solidFill>
                  <a:srgbClr val="24292E"/>
                </a:solidFill>
                <a:latin typeface="Courier"/>
              </a:rPr>
              <a:t>main/</a:t>
            </a:r>
            <a:r>
              <a:rPr lang="en-ID" sz="1800" b="0" i="0" u="none" strike="noStrike" baseline="0" dirty="0">
                <a:solidFill>
                  <a:srgbClr val="D73B4A"/>
                </a:solidFill>
                <a:latin typeface="Courier"/>
              </a:rPr>
              <a:t>*</a:t>
            </a:r>
            <a:r>
              <a:rPr lang="en-ID" sz="1800" b="0" i="0" u="none" strike="noStrike" baseline="0" dirty="0">
                <a:solidFill>
                  <a:srgbClr val="24292E"/>
                </a:solidFill>
                <a:latin typeface="Courier"/>
              </a:rPr>
              <a:t>.exe</a:t>
            </a:r>
            <a:endParaRPr lang="en-ID" sz="18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5829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2E6D-D3D8-9AAE-B43B-31733D59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656C42-EB9C-CE35-9796-300B8A1FB14D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9BE935-65B7-C4DA-626E-4804E8B6ED30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Instalasi</a:t>
            </a:r>
            <a:r>
              <a:rPr lang="en-US" sz="3467" b="1" dirty="0">
                <a:solidFill>
                  <a:srgbClr val="FFFFFF"/>
                </a:solidFill>
              </a:rPr>
              <a:t> WRF Pre-Processing (WPS)</a:t>
            </a:r>
            <a:endParaRPr lang="en-US" sz="34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671EF-9B41-8237-7CD3-09A778EF41A1}"/>
              </a:ext>
            </a:extLst>
          </p:cNvPr>
          <p:cNvSpPr txBox="1"/>
          <p:nvPr/>
        </p:nvSpPr>
        <p:spPr>
          <a:xfrm>
            <a:off x="386079" y="650000"/>
            <a:ext cx="115349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600" b="0" i="0" u="none" strike="noStrike" baseline="0" dirty="0">
                <a:latin typeface="Courier"/>
              </a:rPr>
              <a:t>Program WPS </a:t>
            </a:r>
            <a:r>
              <a:rPr lang="en-ID" sz="1600" b="0" i="0" u="none" strike="noStrike" baseline="0" dirty="0" err="1">
                <a:latin typeface="Courier"/>
              </a:rPr>
              <a:t>digunakan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untuk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menyesuaikan</a:t>
            </a:r>
            <a:r>
              <a:rPr lang="en-ID" sz="1600" b="0" i="0" u="none" strike="noStrike" baseline="0" dirty="0">
                <a:latin typeface="Courier"/>
              </a:rPr>
              <a:t> data </a:t>
            </a:r>
            <a:r>
              <a:rPr lang="en-ID" sz="1600" b="0" i="0" u="none" strike="noStrike" baseline="0" dirty="0" err="1">
                <a:latin typeface="Courier"/>
              </a:rPr>
              <a:t>masukan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dari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berbagai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sumber</a:t>
            </a:r>
            <a:r>
              <a:rPr lang="en-ID" sz="1600" b="0" i="0" u="none" strike="noStrike" baseline="0" dirty="0">
                <a:latin typeface="Courier"/>
              </a:rPr>
              <a:t> (ERA5, GFS, NAM,…) </a:t>
            </a:r>
            <a:r>
              <a:rPr lang="en-ID" sz="1600" b="0" i="0" u="none" strike="noStrike" baseline="0" dirty="0" err="1">
                <a:latin typeface="Courier"/>
              </a:rPr>
              <a:t>sebelum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ke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simulasi</a:t>
            </a:r>
            <a:r>
              <a:rPr lang="en-ID" sz="1600" b="0" i="0" u="none" strike="noStrike" baseline="0" dirty="0">
                <a:latin typeface="Courier"/>
              </a:rPr>
              <a:t> WRF. </a:t>
            </a:r>
            <a:r>
              <a:rPr lang="en-ID" sz="1600" b="0" i="0" u="none" strike="noStrike" baseline="0" dirty="0" err="1">
                <a:latin typeface="Courier"/>
              </a:rPr>
              <a:t>Terdapat</a:t>
            </a:r>
            <a:r>
              <a:rPr lang="en-ID" sz="1600" b="0" i="0" u="none" strike="noStrike" baseline="0" dirty="0">
                <a:latin typeface="Courier"/>
              </a:rPr>
              <a:t> 3 program </a:t>
            </a:r>
            <a:r>
              <a:rPr lang="en-ID" sz="1600" b="0" i="0" u="none" strike="noStrike" baseline="0" dirty="0" err="1">
                <a:latin typeface="Courier"/>
              </a:rPr>
              <a:t>utama</a:t>
            </a:r>
            <a:r>
              <a:rPr lang="en-ID" sz="1600" b="0" i="0" u="none" strike="noStrike" baseline="0" dirty="0">
                <a:latin typeface="Courier"/>
              </a:rPr>
              <a:t>: geogrid.exe, ungrib.exe, dan metgrid.exe.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54E3A-0B05-43AA-6C22-ADD6061B8E82}"/>
              </a:ext>
            </a:extLst>
          </p:cNvPr>
          <p:cNvSpPr txBox="1"/>
          <p:nvPr/>
        </p:nvSpPr>
        <p:spPr>
          <a:xfrm>
            <a:off x="386079" y="3820605"/>
            <a:ext cx="6096000" cy="132343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D" sz="1600" b="1" dirty="0">
                <a:latin typeface="Courier"/>
              </a:rPr>
              <a:t>1. Buka folder WPS </a:t>
            </a:r>
            <a:r>
              <a:rPr lang="en-ID" sz="1600" b="1" dirty="0" err="1">
                <a:latin typeface="Courier"/>
              </a:rPr>
              <a:t>dengan</a:t>
            </a:r>
            <a:r>
              <a:rPr lang="en-ID" sz="1600" b="1" dirty="0">
                <a:latin typeface="Courier"/>
              </a:rPr>
              <a:t> </a:t>
            </a:r>
            <a:r>
              <a:rPr lang="en-ID" sz="1600" b="1" dirty="0" err="1">
                <a:latin typeface="Courier"/>
              </a:rPr>
              <a:t>perintah</a:t>
            </a:r>
            <a:r>
              <a:rPr lang="en-ID" sz="1600" b="1" dirty="0">
                <a:latin typeface="Courier"/>
              </a:rPr>
              <a:t> </a:t>
            </a:r>
            <a:r>
              <a:rPr lang="en-ID" sz="1600" b="1" dirty="0" err="1">
                <a:latin typeface="Courier"/>
              </a:rPr>
              <a:t>ini</a:t>
            </a:r>
            <a:r>
              <a:rPr lang="en-ID" sz="1600" b="1" dirty="0">
                <a:latin typeface="Courier"/>
              </a:rPr>
              <a:t>:</a:t>
            </a:r>
            <a:endParaRPr lang="en-ID" sz="1600" b="1" i="0" u="none" strike="noStrike" baseline="0" dirty="0">
              <a:solidFill>
                <a:srgbClr val="D73B4A"/>
              </a:solidFill>
              <a:latin typeface="Courier"/>
            </a:endParaRPr>
          </a:p>
          <a:p>
            <a:r>
              <a:rPr lang="en-ID" sz="1600" b="0" i="0" u="none" strike="noStrike" baseline="0" dirty="0">
                <a:solidFill>
                  <a:srgbClr val="D73B4A"/>
                </a:solidFill>
                <a:latin typeface="Courier"/>
              </a:rPr>
              <a:t>cd </a:t>
            </a:r>
            <a:r>
              <a:rPr lang="en-ID" sz="1600" b="0" i="0" u="none" strike="noStrike" baseline="0" dirty="0">
                <a:solidFill>
                  <a:srgbClr val="E4610A"/>
                </a:solidFill>
                <a:latin typeface="Courier"/>
              </a:rPr>
              <a:t>$ODIR</a:t>
            </a:r>
            <a:r>
              <a:rPr lang="en-ID" sz="1600" b="0" i="0" u="none" strike="noStrike" baseline="0" dirty="0">
                <a:solidFill>
                  <a:srgbClr val="24292E"/>
                </a:solidFill>
                <a:latin typeface="Courier"/>
              </a:rPr>
              <a:t>/WPS</a:t>
            </a:r>
          </a:p>
          <a:p>
            <a:endParaRPr lang="en-ID" sz="1600" dirty="0">
              <a:solidFill>
                <a:srgbClr val="24292E"/>
              </a:solidFill>
              <a:latin typeface="Courier"/>
            </a:endParaRPr>
          </a:p>
          <a:p>
            <a:r>
              <a:rPr lang="en-ID" sz="1600" b="1" dirty="0">
                <a:latin typeface="Courier"/>
              </a:rPr>
              <a:t>2. </a:t>
            </a:r>
            <a:r>
              <a:rPr lang="en-ID" sz="1600" b="1" dirty="0" err="1">
                <a:latin typeface="Courier"/>
              </a:rPr>
              <a:t>Jalankan</a:t>
            </a:r>
            <a:r>
              <a:rPr lang="en-ID" sz="1600" b="1" dirty="0">
                <a:latin typeface="Courier"/>
              </a:rPr>
              <a:t> file configure </a:t>
            </a:r>
            <a:r>
              <a:rPr lang="en-ID" sz="1600" b="1" dirty="0" err="1">
                <a:latin typeface="Courier"/>
              </a:rPr>
              <a:t>dengan</a:t>
            </a:r>
            <a:r>
              <a:rPr lang="en-ID" sz="1600" b="1" dirty="0">
                <a:latin typeface="Courier"/>
              </a:rPr>
              <a:t> </a:t>
            </a:r>
            <a:r>
              <a:rPr lang="en-ID" sz="1600" b="1" dirty="0" err="1">
                <a:latin typeface="Courier"/>
              </a:rPr>
              <a:t>perintah</a:t>
            </a:r>
            <a:r>
              <a:rPr lang="en-ID" sz="1600" b="1" dirty="0">
                <a:latin typeface="Courier"/>
              </a:rPr>
              <a:t> </a:t>
            </a:r>
            <a:r>
              <a:rPr lang="en-ID" sz="1600" b="1" dirty="0" err="1">
                <a:latin typeface="Courier"/>
              </a:rPr>
              <a:t>ini</a:t>
            </a:r>
            <a:r>
              <a:rPr lang="en-ID" sz="1600" dirty="0">
                <a:latin typeface="Courier"/>
              </a:rPr>
              <a:t>:</a:t>
            </a:r>
            <a:endParaRPr lang="en-ID" sz="1600" b="0" i="0" u="none" strike="noStrike" baseline="0" dirty="0">
              <a:solidFill>
                <a:srgbClr val="24292E"/>
              </a:solidFill>
              <a:latin typeface="Courier"/>
            </a:endParaRPr>
          </a:p>
          <a:p>
            <a:r>
              <a:rPr lang="en-ID" sz="1600" b="1" dirty="0">
                <a:solidFill>
                  <a:srgbClr val="D73B4A"/>
                </a:solidFill>
                <a:latin typeface="Courier"/>
              </a:rPr>
              <a:t>./configure</a:t>
            </a:r>
            <a:endParaRPr lang="en-ID" sz="16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9084D1-3900-D3A1-0F1C-DA9D24EF7569}"/>
              </a:ext>
            </a:extLst>
          </p:cNvPr>
          <p:cNvSpPr txBox="1"/>
          <p:nvPr/>
        </p:nvSpPr>
        <p:spPr>
          <a:xfrm>
            <a:off x="6860121" y="36991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b="1" i="0" u="none" strike="noStrike" baseline="0" dirty="0">
                <a:latin typeface="Courier"/>
              </a:rPr>
              <a:t>3. Ketik angka 3 untuk GNU</a:t>
            </a:r>
            <a:endParaRPr lang="en-ID" b="1" dirty="0">
              <a:latin typeface="Courier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94A285-19DB-6A3A-A000-2C9C80CC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121" y="4090443"/>
            <a:ext cx="5286373" cy="1464725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6BF375E-D0AE-7020-9199-4C5EF14A1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24897"/>
              </p:ext>
            </p:extLst>
          </p:nvPr>
        </p:nvGraphicFramePr>
        <p:xfrm>
          <a:off x="386079" y="1472786"/>
          <a:ext cx="11145522" cy="20726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715174">
                  <a:extLst>
                    <a:ext uri="{9D8B030D-6E8A-4147-A177-3AD203B41FA5}">
                      <a16:colId xmlns:a16="http://schemas.microsoft.com/office/drawing/2014/main" val="110713042"/>
                    </a:ext>
                  </a:extLst>
                </a:gridCol>
                <a:gridCol w="3715174">
                  <a:extLst>
                    <a:ext uri="{9D8B030D-6E8A-4147-A177-3AD203B41FA5}">
                      <a16:colId xmlns:a16="http://schemas.microsoft.com/office/drawing/2014/main" val="3697791886"/>
                    </a:ext>
                  </a:extLst>
                </a:gridCol>
                <a:gridCol w="3715174">
                  <a:extLst>
                    <a:ext uri="{9D8B030D-6E8A-4147-A177-3AD203B41FA5}">
                      <a16:colId xmlns:a16="http://schemas.microsoft.com/office/drawing/2014/main" val="3202946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>
                          <a:latin typeface="Courier"/>
                        </a:rPr>
                        <a:t>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 err="1">
                          <a:latin typeface="Courier"/>
                        </a:rPr>
                        <a:t>Fungsi</a:t>
                      </a:r>
                      <a:r>
                        <a:rPr lang="en-ID" sz="1600" b="1" dirty="0">
                          <a:latin typeface="Courier"/>
                        </a:rPr>
                        <a:t> Utama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>
                          <a:latin typeface="Courier"/>
                        </a:rPr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93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0" dirty="0">
                          <a:latin typeface="Courier"/>
                        </a:rPr>
                        <a:t>geogrid.exe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>
                          <a:latin typeface="Courier"/>
                        </a:rPr>
                        <a:t>Menentukan koordinat domain Surabaya &amp; data topografi.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>
                          <a:latin typeface="Courier"/>
                        </a:rPr>
                        <a:t>geo_em.d01.nc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983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0" dirty="0">
                          <a:latin typeface="Courier"/>
                        </a:rPr>
                        <a:t>ungrib.exe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 err="1">
                          <a:latin typeface="Courier"/>
                        </a:rPr>
                        <a:t>Ekstraksi</a:t>
                      </a:r>
                      <a:r>
                        <a:rPr lang="en-ID" sz="1600" dirty="0">
                          <a:latin typeface="Courier"/>
                        </a:rPr>
                        <a:t> data </a:t>
                      </a:r>
                      <a:r>
                        <a:rPr lang="en-ID" sz="1600" dirty="0" err="1">
                          <a:latin typeface="Courier"/>
                        </a:rPr>
                        <a:t>meteorologi</a:t>
                      </a:r>
                      <a:r>
                        <a:rPr lang="en-ID" sz="1600" dirty="0">
                          <a:latin typeface="Courier"/>
                        </a:rPr>
                        <a:t> GFS/ERA5 </a:t>
                      </a:r>
                      <a:r>
                        <a:rPr lang="en-ID" sz="1600" dirty="0" err="1">
                          <a:latin typeface="Courier"/>
                        </a:rPr>
                        <a:t>dari</a:t>
                      </a:r>
                      <a:r>
                        <a:rPr lang="en-ID" sz="1600" dirty="0">
                          <a:latin typeface="Courier"/>
                        </a:rPr>
                        <a:t> format GRIB.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>
                          <a:latin typeface="Courier"/>
                        </a:rPr>
                        <a:t>FILE:YYYY-MM...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74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0" dirty="0">
                          <a:latin typeface="Courier"/>
                        </a:rPr>
                        <a:t>metgrid.exe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>
                          <a:latin typeface="Courier"/>
                        </a:rPr>
                        <a:t>Horizontal </a:t>
                      </a:r>
                      <a:r>
                        <a:rPr lang="en-ID" sz="1600" dirty="0" err="1">
                          <a:latin typeface="Courier"/>
                        </a:rPr>
                        <a:t>interpolasi</a:t>
                      </a:r>
                      <a:r>
                        <a:rPr lang="en-ID" sz="1600" dirty="0">
                          <a:latin typeface="Courier"/>
                        </a:rPr>
                        <a:t> data </a:t>
                      </a:r>
                      <a:r>
                        <a:rPr lang="en-ID" sz="1600" dirty="0" err="1">
                          <a:latin typeface="Courier"/>
                        </a:rPr>
                        <a:t>meteorologi</a:t>
                      </a:r>
                      <a:r>
                        <a:rPr lang="en-ID" sz="1600" dirty="0">
                          <a:latin typeface="Courier"/>
                        </a:rPr>
                        <a:t> </a:t>
                      </a:r>
                      <a:r>
                        <a:rPr lang="en-ID" sz="1600" dirty="0" err="1">
                          <a:latin typeface="Courier"/>
                        </a:rPr>
                        <a:t>ke</a:t>
                      </a:r>
                      <a:r>
                        <a:rPr lang="en-ID" sz="1600" dirty="0">
                          <a:latin typeface="Courier"/>
                        </a:rPr>
                        <a:t> grid domain.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>
                          <a:latin typeface="Courier"/>
                        </a:rPr>
                        <a:t>met_em.d01..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711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70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AA13-FD01-66D7-27F6-97F89DC7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2B37B9-54EC-4DC0-A08C-A4C3FED44C1B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657219-8095-5CF3-C0C3-CFEE8678DD3B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Instalasi</a:t>
            </a:r>
            <a:r>
              <a:rPr lang="en-US" sz="3467" b="1" dirty="0">
                <a:solidFill>
                  <a:srgbClr val="FFFFFF"/>
                </a:solidFill>
              </a:rPr>
              <a:t> WRF Pre-Processing (WPS)</a:t>
            </a:r>
            <a:endParaRPr lang="en-US" sz="34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74DF1-CB5B-DB16-C447-B5B7CA4693E6}"/>
              </a:ext>
            </a:extLst>
          </p:cNvPr>
          <p:cNvSpPr txBox="1"/>
          <p:nvPr/>
        </p:nvSpPr>
        <p:spPr>
          <a:xfrm>
            <a:off x="6968067" y="2527761"/>
            <a:ext cx="480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>
                <a:latin typeface="Courier"/>
              </a:rPr>
              <a:t>Setelah diganti, lakukan kompilasi dengan mengetik perintah: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7A037-AD28-D7A5-336D-A9E2FD084A41}"/>
              </a:ext>
            </a:extLst>
          </p:cNvPr>
          <p:cNvSpPr txBox="1"/>
          <p:nvPr/>
        </p:nvSpPr>
        <p:spPr>
          <a:xfrm>
            <a:off x="180340" y="709456"/>
            <a:ext cx="11831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dirty="0" err="1">
                <a:latin typeface="Courier"/>
              </a:rPr>
              <a:t>Setelah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selesai</a:t>
            </a:r>
            <a:r>
              <a:rPr lang="en-ID" dirty="0">
                <a:latin typeface="Courier"/>
              </a:rPr>
              <a:t>, di folder WPS </a:t>
            </a:r>
            <a:r>
              <a:rPr lang="en-ID" dirty="0" err="1">
                <a:latin typeface="Courier"/>
              </a:rPr>
              <a:t>akan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muncul</a:t>
            </a:r>
            <a:r>
              <a:rPr lang="en-ID" dirty="0">
                <a:latin typeface="Courier"/>
              </a:rPr>
              <a:t> file </a:t>
            </a:r>
            <a:r>
              <a:rPr lang="en-ID" dirty="0" err="1">
                <a:latin typeface="Courier"/>
              </a:rPr>
              <a:t>configure.wps</a:t>
            </a:r>
            <a:r>
              <a:rPr lang="en-ID" dirty="0">
                <a:latin typeface="Courier"/>
              </a:rPr>
              <a:t>. </a:t>
            </a:r>
            <a:r>
              <a:rPr lang="en-ID" dirty="0" err="1">
                <a:latin typeface="Courier"/>
              </a:rPr>
              <a:t>Beberapa</a:t>
            </a:r>
            <a:r>
              <a:rPr lang="en-ID" dirty="0">
                <a:latin typeface="Courier"/>
              </a:rPr>
              <a:t> baris </a:t>
            </a:r>
            <a:r>
              <a:rPr lang="en-ID" dirty="0" err="1">
                <a:latin typeface="Courier"/>
              </a:rPr>
              <a:t>dari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isi</a:t>
            </a:r>
            <a:r>
              <a:rPr lang="en-ID" dirty="0">
                <a:latin typeface="Courier"/>
              </a:rPr>
              <a:t> file </a:t>
            </a:r>
            <a:r>
              <a:rPr lang="en-ID" dirty="0" err="1">
                <a:latin typeface="Courier"/>
              </a:rPr>
              <a:t>tersebut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ada</a:t>
            </a:r>
            <a:r>
              <a:rPr lang="en-ID" dirty="0">
                <a:latin typeface="Courier"/>
              </a:rPr>
              <a:t> yang </a:t>
            </a:r>
            <a:r>
              <a:rPr lang="en-ID" dirty="0" err="1">
                <a:latin typeface="Courier"/>
              </a:rPr>
              <a:t>perlu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ditambahkan</a:t>
            </a:r>
            <a:r>
              <a:rPr lang="en-ID" dirty="0">
                <a:latin typeface="Courier"/>
              </a:rPr>
              <a:t> dan </a:t>
            </a:r>
            <a:r>
              <a:rPr lang="en-ID" dirty="0" err="1">
                <a:latin typeface="Courier"/>
              </a:rPr>
              <a:t>diganti</a:t>
            </a:r>
            <a:r>
              <a:rPr lang="en-ID" dirty="0">
                <a:latin typeface="Courier"/>
              </a:rPr>
              <a:t>.</a:t>
            </a:r>
            <a:endParaRPr lang="en-ID" sz="16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862F5-350D-0C11-1D2D-060249225EC1}"/>
              </a:ext>
            </a:extLst>
          </p:cNvPr>
          <p:cNvSpPr txBox="1"/>
          <p:nvPr/>
        </p:nvSpPr>
        <p:spPr>
          <a:xfrm>
            <a:off x="276013" y="1405790"/>
            <a:ext cx="10849187" cy="33855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nano </a:t>
            </a:r>
            <a:r>
              <a:rPr lang="en-US" sz="1600" dirty="0" err="1">
                <a:solidFill>
                  <a:srgbClr val="24292E"/>
                </a:solidFill>
                <a:latin typeface="Courier"/>
              </a:rPr>
              <a:t>configure.wps</a:t>
            </a:r>
            <a:endParaRPr lang="en-ID" sz="1600" dirty="0">
              <a:solidFill>
                <a:srgbClr val="24292E"/>
              </a:solidFill>
              <a:latin typeface="Courier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FDA781-DED8-2F38-BE7D-A08381CABC38}"/>
              </a:ext>
            </a:extLst>
          </p:cNvPr>
          <p:cNvGrpSpPr/>
          <p:nvPr/>
        </p:nvGrpSpPr>
        <p:grpSpPr>
          <a:xfrm>
            <a:off x="276013" y="1794347"/>
            <a:ext cx="6382571" cy="3753768"/>
            <a:chOff x="276013" y="1794347"/>
            <a:chExt cx="6382571" cy="375376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AF9CD99-7B3D-7BDD-8147-091CBAEF6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013" y="1794347"/>
              <a:ext cx="6382571" cy="375376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590DCD-DABB-AE3A-34FE-6C60746724A3}"/>
                </a:ext>
              </a:extLst>
            </p:cNvPr>
            <p:cNvSpPr/>
            <p:nvPr/>
          </p:nvSpPr>
          <p:spPr>
            <a:xfrm>
              <a:off x="5107304" y="5191880"/>
              <a:ext cx="694266" cy="2691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7C1F75A-D8E1-C6DA-F99C-CBFFED0AEDBD}"/>
              </a:ext>
            </a:extLst>
          </p:cNvPr>
          <p:cNvSpPr txBox="1"/>
          <p:nvPr/>
        </p:nvSpPr>
        <p:spPr>
          <a:xfrm>
            <a:off x="216110" y="5637149"/>
            <a:ext cx="6548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600" b="0" i="0" u="none" strike="noStrike" baseline="0" dirty="0" err="1">
                <a:latin typeface="Courier"/>
              </a:rPr>
              <a:t>tambahkan</a:t>
            </a:r>
            <a:r>
              <a:rPr lang="en-ID" sz="1600" b="0" i="0" u="none" strike="noStrike" baseline="0" dirty="0">
                <a:latin typeface="Courier"/>
              </a:rPr>
              <a:t> -</a:t>
            </a:r>
            <a:r>
              <a:rPr lang="en-ID" sz="1600" b="0" i="0" u="none" strike="noStrike" baseline="0" dirty="0" err="1">
                <a:latin typeface="Courier"/>
              </a:rPr>
              <a:t>lgomp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setelah</a:t>
            </a:r>
            <a:r>
              <a:rPr lang="en-ID" sz="1600" b="0" i="0" u="none" strike="noStrike" baseline="0" dirty="0">
                <a:latin typeface="Courier"/>
              </a:rPr>
              <a:t> –</a:t>
            </a:r>
            <a:r>
              <a:rPr lang="en-ID" sz="1600" b="0" i="0" u="none" strike="noStrike" baseline="0" dirty="0" err="1">
                <a:latin typeface="Courier"/>
              </a:rPr>
              <a:t>lnetcdf</a:t>
            </a:r>
            <a:r>
              <a:rPr lang="en-ID" sz="1600" dirty="0">
                <a:latin typeface="Courier"/>
              </a:rPr>
              <a:t> </a:t>
            </a:r>
            <a:r>
              <a:rPr lang="en-ID" sz="1600" b="0" i="0" u="none" strike="noStrike" baseline="0" dirty="0">
                <a:latin typeface="Courier"/>
              </a:rPr>
              <a:t>pada </a:t>
            </a:r>
            <a:r>
              <a:rPr lang="en-ID" sz="1600" b="0" i="0" u="none" strike="noStrike" baseline="0" dirty="0" err="1">
                <a:latin typeface="Courier"/>
              </a:rPr>
              <a:t>bagian</a:t>
            </a:r>
            <a:r>
              <a:rPr lang="en-ID" sz="1600" b="0" i="0" u="none" strike="noStrike" baseline="0" dirty="0">
                <a:latin typeface="Courier"/>
              </a:rPr>
              <a:t> </a:t>
            </a:r>
            <a:r>
              <a:rPr lang="en-ID" sz="1600" b="0" i="0" u="none" strike="noStrike" baseline="0" dirty="0" err="1">
                <a:latin typeface="Courier"/>
              </a:rPr>
              <a:t>variabel</a:t>
            </a:r>
            <a:r>
              <a:rPr lang="en-ID" sz="1600" b="0" i="0" u="none" strike="noStrike" baseline="0" dirty="0">
                <a:latin typeface="Courier"/>
              </a:rPr>
              <a:t> WRF_LIB = …</a:t>
            </a:r>
            <a:endParaRPr lang="en-ID" sz="1600" dirty="0">
              <a:latin typeface="Couri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181E1-3BF5-4714-6028-2066B732123A}"/>
              </a:ext>
            </a:extLst>
          </p:cNvPr>
          <p:cNvSpPr txBox="1"/>
          <p:nvPr/>
        </p:nvSpPr>
        <p:spPr>
          <a:xfrm>
            <a:off x="6968067" y="4150453"/>
            <a:ext cx="451237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ID" dirty="0">
                <a:latin typeface="Courier"/>
              </a:rPr>
              <a:t>ls *.exe</a:t>
            </a:r>
            <a:endParaRPr lang="en-ID" sz="18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6D1623-6852-EAA0-BDA2-C382427B3346}"/>
              </a:ext>
            </a:extLst>
          </p:cNvPr>
          <p:cNvSpPr txBox="1"/>
          <p:nvPr/>
        </p:nvSpPr>
        <p:spPr>
          <a:xfrm>
            <a:off x="7035442" y="3081403"/>
            <a:ext cx="451781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ID" sz="1800" b="0" i="0" u="none" strike="noStrike" baseline="0" dirty="0">
                <a:solidFill>
                  <a:srgbClr val="D73B4A"/>
                </a:solidFill>
                <a:latin typeface="Courier"/>
              </a:rPr>
              <a:t>./compile</a:t>
            </a:r>
            <a:endParaRPr lang="en-ID" sz="18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D23C3E-186C-DB4C-CA89-F686E158362F}"/>
              </a:ext>
            </a:extLst>
          </p:cNvPr>
          <p:cNvSpPr txBox="1"/>
          <p:nvPr/>
        </p:nvSpPr>
        <p:spPr>
          <a:xfrm>
            <a:off x="6870745" y="4632441"/>
            <a:ext cx="51409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1" dirty="0">
                <a:solidFill>
                  <a:srgbClr val="00B0F0"/>
                </a:solidFill>
                <a:latin typeface="Courier"/>
              </a:rPr>
              <a:t>geogrid.exe 	metgrid.exe 	ungrib.exe</a:t>
            </a:r>
            <a:endParaRPr lang="en-ID" sz="1600" b="1" dirty="0">
              <a:solidFill>
                <a:srgbClr val="00B0F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8DCCDE-25A8-0060-27BA-309BBD101576}"/>
              </a:ext>
            </a:extLst>
          </p:cNvPr>
          <p:cNvSpPr txBox="1"/>
          <p:nvPr/>
        </p:nvSpPr>
        <p:spPr>
          <a:xfrm>
            <a:off x="6968067" y="3835100"/>
            <a:ext cx="4512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>
                <a:latin typeface="Courier"/>
              </a:rPr>
              <a:t>Berhasil jika 3 .exe ini ada:</a:t>
            </a:r>
          </a:p>
        </p:txBody>
      </p:sp>
    </p:spTree>
    <p:extLst>
      <p:ext uri="{BB962C8B-B14F-4D97-AF65-F5344CB8AC3E}">
        <p14:creationId xmlns:p14="http://schemas.microsoft.com/office/powerpoint/2010/main" val="39621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0E4B-4C6F-49FC-07F4-A98B6127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932604-192D-1AB8-0BD6-7D73B98ED60C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037B6D-A763-1DE4-2C56-278EE9BD7548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Simulasi</a:t>
            </a:r>
            <a:r>
              <a:rPr lang="en-US" sz="3467" b="1" dirty="0">
                <a:solidFill>
                  <a:srgbClr val="FFFFFF"/>
                </a:solidFill>
              </a:rPr>
              <a:t> WRF ARW</a:t>
            </a:r>
            <a:endParaRPr lang="en-US" sz="3467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1D1BB-8877-CED1-804A-721C3ED1185A}"/>
              </a:ext>
            </a:extLst>
          </p:cNvPr>
          <p:cNvSpPr txBox="1"/>
          <p:nvPr/>
        </p:nvSpPr>
        <p:spPr>
          <a:xfrm>
            <a:off x="180340" y="709456"/>
            <a:ext cx="11831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dirty="0">
                <a:latin typeface="Courier"/>
              </a:rPr>
              <a:t>Jika Anda </a:t>
            </a:r>
            <a:r>
              <a:rPr lang="en-ID" dirty="0" err="1">
                <a:latin typeface="Courier"/>
              </a:rPr>
              <a:t>menutup</a:t>
            </a:r>
            <a:r>
              <a:rPr lang="en-ID" dirty="0">
                <a:latin typeface="Courier"/>
              </a:rPr>
              <a:t> terminal bash </a:t>
            </a:r>
            <a:r>
              <a:rPr lang="en-ID" dirty="0" err="1">
                <a:latin typeface="Courier"/>
              </a:rPr>
              <a:t>atau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mematikan</a:t>
            </a:r>
            <a:r>
              <a:rPr lang="en-ID" dirty="0">
                <a:latin typeface="Courier"/>
              </a:rPr>
              <a:t> laptop/</a:t>
            </a:r>
            <a:r>
              <a:rPr lang="en-ID" dirty="0" err="1">
                <a:latin typeface="Courier"/>
              </a:rPr>
              <a:t>komputer</a:t>
            </a:r>
            <a:r>
              <a:rPr lang="en-ID" dirty="0">
                <a:latin typeface="Courier"/>
              </a:rPr>
              <a:t>, </a:t>
            </a:r>
            <a:r>
              <a:rPr lang="en-ID" dirty="0" err="1">
                <a:latin typeface="Courier"/>
              </a:rPr>
              <a:t>definisikan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kembali</a:t>
            </a:r>
            <a:r>
              <a:rPr lang="en-ID" dirty="0">
                <a:latin typeface="Courier"/>
              </a:rPr>
              <a:t> </a:t>
            </a:r>
            <a:r>
              <a:rPr lang="en-ID" i="1" dirty="0">
                <a:latin typeface="Courier"/>
              </a:rPr>
              <a:t>ENVIRONMENT VARIABLE </a:t>
            </a:r>
            <a:r>
              <a:rPr lang="en-ID" dirty="0" err="1">
                <a:latin typeface="Courier"/>
              </a:rPr>
              <a:t>seperti</a:t>
            </a:r>
            <a:r>
              <a:rPr lang="en-ID" dirty="0">
                <a:latin typeface="Courier"/>
              </a:rPr>
              <a:t> pada </a:t>
            </a:r>
            <a:r>
              <a:rPr lang="en-ID" dirty="0" err="1">
                <a:latin typeface="Courier"/>
              </a:rPr>
              <a:t>saat</a:t>
            </a:r>
            <a:r>
              <a:rPr lang="en-ID" dirty="0">
                <a:latin typeface="Courier"/>
              </a:rPr>
              <a:t> proses </a:t>
            </a:r>
            <a:r>
              <a:rPr lang="en-ID" dirty="0" err="1">
                <a:latin typeface="Courier"/>
              </a:rPr>
              <a:t>memasang</a:t>
            </a:r>
            <a:r>
              <a:rPr lang="en-ID" dirty="0">
                <a:latin typeface="Courier"/>
              </a:rPr>
              <a:t> WRF dan WPS. </a:t>
            </a:r>
            <a:r>
              <a:rPr lang="en-ID" dirty="0" err="1">
                <a:latin typeface="Courier"/>
              </a:rPr>
              <a:t>Variabel</a:t>
            </a:r>
            <a:r>
              <a:rPr lang="en-ID" dirty="0">
                <a:latin typeface="Courier"/>
              </a:rPr>
              <a:t> yang </a:t>
            </a:r>
            <a:r>
              <a:rPr lang="en-ID" dirty="0" err="1">
                <a:latin typeface="Courier"/>
              </a:rPr>
              <a:t>perlu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didefinisikan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hanya</a:t>
            </a:r>
            <a:r>
              <a:rPr lang="en-ID" dirty="0">
                <a:latin typeface="Courier"/>
              </a:rPr>
              <a:t> 3 </a:t>
            </a:r>
            <a:r>
              <a:rPr lang="en-ID" dirty="0" err="1">
                <a:latin typeface="Courier"/>
              </a:rPr>
              <a:t>saja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seperti</a:t>
            </a:r>
            <a:r>
              <a:rPr lang="en-ID" dirty="0">
                <a:latin typeface="Courier"/>
              </a:rPr>
              <a:t> pada </a:t>
            </a:r>
            <a:r>
              <a:rPr lang="en-ID" dirty="0" err="1">
                <a:latin typeface="Courier"/>
              </a:rPr>
              <a:t>perintah</a:t>
            </a:r>
            <a:r>
              <a:rPr lang="en-ID" dirty="0">
                <a:latin typeface="Courier"/>
              </a:rPr>
              <a:t> di </a:t>
            </a:r>
            <a:r>
              <a:rPr lang="en-ID" dirty="0" err="1">
                <a:latin typeface="Courier"/>
              </a:rPr>
              <a:t>bawah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ini</a:t>
            </a:r>
            <a:r>
              <a:rPr lang="en-ID" dirty="0">
                <a:latin typeface="Courier"/>
              </a:rPr>
              <a:t>. Anda </a:t>
            </a:r>
            <a:r>
              <a:rPr lang="en-ID" dirty="0" err="1">
                <a:latin typeface="Courier"/>
              </a:rPr>
              <a:t>dapat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memasukkan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variabel</a:t>
            </a:r>
            <a:r>
              <a:rPr lang="en-ID" dirty="0">
                <a:latin typeface="Courier"/>
              </a:rPr>
              <a:t> </a:t>
            </a:r>
            <a:r>
              <a:rPr lang="en-ID" dirty="0" err="1">
                <a:latin typeface="Courier"/>
              </a:rPr>
              <a:t>ini</a:t>
            </a:r>
            <a:r>
              <a:rPr lang="en-ID" dirty="0">
                <a:latin typeface="Courier"/>
              </a:rPr>
              <a:t> pada file .</a:t>
            </a:r>
            <a:r>
              <a:rPr lang="en-ID" dirty="0" err="1">
                <a:latin typeface="Courier"/>
              </a:rPr>
              <a:t>bashrc</a:t>
            </a:r>
            <a:endParaRPr lang="en-ID" dirty="0">
              <a:latin typeface="Courier"/>
            </a:endParaRPr>
          </a:p>
          <a:p>
            <a:pPr algn="just"/>
            <a:r>
              <a:rPr lang="it-IT" dirty="0">
                <a:latin typeface="Courier"/>
              </a:rPr>
              <a:t>atau .bash_profile di direktori $HOME.</a:t>
            </a:r>
            <a:endParaRPr lang="en-ID" sz="16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D5909-D86C-8F99-D4E2-6CE0B9DB6182}"/>
              </a:ext>
            </a:extLst>
          </p:cNvPr>
          <p:cNvSpPr txBox="1"/>
          <p:nvPr/>
        </p:nvSpPr>
        <p:spPr>
          <a:xfrm>
            <a:off x="484052" y="4681630"/>
            <a:ext cx="7103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b="1" dirty="0" err="1">
                <a:latin typeface="Courier"/>
              </a:rPr>
              <a:t>Konfigurasi</a:t>
            </a:r>
            <a:r>
              <a:rPr lang="en-ID" b="1" dirty="0">
                <a:latin typeface="Courier"/>
              </a:rPr>
              <a:t> Input &amp; Domain</a:t>
            </a:r>
          </a:p>
          <a:p>
            <a:r>
              <a:rPr lang="en-ID" b="1" dirty="0">
                <a:latin typeface="Courier"/>
              </a:rPr>
              <a:t>Lokasi:</a:t>
            </a:r>
            <a:r>
              <a:rPr lang="en-ID" dirty="0">
                <a:latin typeface="Courier"/>
              </a:rPr>
              <a:t> Kota Surabaya (Domain </a:t>
            </a:r>
            <a:r>
              <a:rPr lang="en-ID" dirty="0" err="1">
                <a:latin typeface="Courier"/>
              </a:rPr>
              <a:t>Spesifik</a:t>
            </a:r>
            <a:r>
              <a:rPr lang="en-ID" dirty="0">
                <a:latin typeface="Courier"/>
              </a:rPr>
              <a:t>)</a:t>
            </a:r>
          </a:p>
          <a:p>
            <a:r>
              <a:rPr lang="en-ID" b="1" dirty="0">
                <a:latin typeface="Courier"/>
              </a:rPr>
              <a:t>Waktu:</a:t>
            </a:r>
            <a:r>
              <a:rPr lang="en-ID" dirty="0">
                <a:latin typeface="Courier"/>
              </a:rPr>
              <a:t> 1 – 3 Januari 2022</a:t>
            </a:r>
          </a:p>
          <a:p>
            <a:r>
              <a:rPr lang="en-ID" b="1" dirty="0">
                <a:latin typeface="Courier"/>
              </a:rPr>
              <a:t>Data:</a:t>
            </a:r>
            <a:r>
              <a:rPr lang="en-ID" dirty="0">
                <a:latin typeface="Courier"/>
              </a:rPr>
              <a:t> ERA5 (Interval 6 Jam: 00, 06, 12, 18 UTC)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168027-75BC-D67E-5603-ACB7BCDFEBD3}"/>
              </a:ext>
            </a:extLst>
          </p:cNvPr>
          <p:cNvGrpSpPr/>
          <p:nvPr/>
        </p:nvGrpSpPr>
        <p:grpSpPr>
          <a:xfrm>
            <a:off x="386080" y="2226554"/>
            <a:ext cx="11469883" cy="2131320"/>
            <a:chOff x="386080" y="2226554"/>
            <a:chExt cx="11469883" cy="21313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BE78F2A-8118-90B0-43B3-3876061E9FF2}"/>
                </a:ext>
              </a:extLst>
            </p:cNvPr>
            <p:cNvSpPr txBox="1"/>
            <p:nvPr/>
          </p:nvSpPr>
          <p:spPr>
            <a:xfrm>
              <a:off x="386080" y="2226554"/>
              <a:ext cx="11469883" cy="58477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24292E"/>
                  </a:solidFill>
                  <a:latin typeface="Courier"/>
                </a:rPr>
                <a:t>cd $HOME</a:t>
              </a:r>
            </a:p>
            <a:p>
              <a:r>
                <a:rPr lang="en-US" sz="1600" dirty="0">
                  <a:solidFill>
                    <a:srgbClr val="24292E"/>
                  </a:solidFill>
                  <a:latin typeface="Courier"/>
                </a:rPr>
                <a:t>nano ~/.</a:t>
              </a:r>
              <a:r>
                <a:rPr lang="en-US" sz="1600" dirty="0" err="1">
                  <a:solidFill>
                    <a:srgbClr val="24292E"/>
                  </a:solidFill>
                  <a:latin typeface="Courier"/>
                </a:rPr>
                <a:t>bashrc</a:t>
              </a:r>
              <a:endParaRPr lang="en-US" sz="1600" dirty="0">
                <a:solidFill>
                  <a:srgbClr val="24292E"/>
                </a:solidFill>
                <a:latin typeface="Courier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A88CEAA-E7FB-032A-E6BF-4712FD918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080" y="2863322"/>
              <a:ext cx="9182572" cy="110495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FA4A4F-5073-20D8-24C8-7C4690499963}"/>
                </a:ext>
              </a:extLst>
            </p:cNvPr>
            <p:cNvSpPr txBox="1"/>
            <p:nvPr/>
          </p:nvSpPr>
          <p:spPr>
            <a:xfrm>
              <a:off x="386080" y="3988542"/>
              <a:ext cx="1146988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24292E"/>
                  </a:solidFill>
                  <a:latin typeface="Courier"/>
                </a:rPr>
                <a:t>source ~/.</a:t>
              </a:r>
              <a:r>
                <a:rPr lang="en-US" sz="1800" dirty="0" err="1">
                  <a:solidFill>
                    <a:srgbClr val="24292E"/>
                  </a:solidFill>
                  <a:latin typeface="Courier"/>
                </a:rPr>
                <a:t>bashrc</a:t>
              </a:r>
              <a:endParaRPr lang="en-US" sz="1800" dirty="0">
                <a:solidFill>
                  <a:srgbClr val="24292E"/>
                </a:solidFill>
                <a:latin typeface="Courier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ABCFB923-BDDD-7B76-0508-E11F3B7F56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38" r="11462" b="10297"/>
          <a:stretch>
            <a:fillRect/>
          </a:stretch>
        </p:blipFill>
        <p:spPr>
          <a:xfrm>
            <a:off x="7489371" y="3135085"/>
            <a:ext cx="3502517" cy="35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18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83A6-FEB7-1BB0-B6FD-466A29DA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8ABAC3-0E1C-3345-8DDE-D2B870537DF4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D6EF2-EC48-BBBE-2808-8D240352B033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Simulasi</a:t>
            </a:r>
            <a:r>
              <a:rPr lang="en-US" sz="3467" b="1" dirty="0">
                <a:solidFill>
                  <a:srgbClr val="FFFFFF"/>
                </a:solidFill>
              </a:rPr>
              <a:t> WRF ARW</a:t>
            </a:r>
            <a:endParaRPr lang="en-US" sz="3467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657727-DCFC-69C4-C71E-DE186E31B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7" y="1254995"/>
            <a:ext cx="4346081" cy="5527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435FD2-A7E5-1ED2-3E4A-EEAF96E52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29" y="797862"/>
            <a:ext cx="3103880" cy="2387599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65CB072-EB61-AB99-1440-867F969A2FB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933651" y="1991662"/>
            <a:ext cx="5307078" cy="4620894"/>
          </a:xfrm>
          <a:prstGeom prst="bentConnector3">
            <a:avLst>
              <a:gd name="adj1" fmla="val 86636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5150289-6BF5-197F-DF34-3F41E1000D1C}"/>
              </a:ext>
            </a:extLst>
          </p:cNvPr>
          <p:cNvSpPr txBox="1"/>
          <p:nvPr/>
        </p:nvSpPr>
        <p:spPr>
          <a:xfrm>
            <a:off x="5935127" y="4215279"/>
            <a:ext cx="516395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ID" sz="1800" b="1" i="0" u="none" strike="noStrike" baseline="0" dirty="0">
                <a:solidFill>
                  <a:srgbClr val="D73B4A"/>
                </a:solidFill>
                <a:latin typeface="Courier-Bold"/>
              </a:rPr>
              <a:t>./geogrid.exe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ADCF75-FDCA-FBE5-FB00-38A5DD58B033}"/>
              </a:ext>
            </a:extLst>
          </p:cNvPr>
          <p:cNvSpPr txBox="1"/>
          <p:nvPr/>
        </p:nvSpPr>
        <p:spPr>
          <a:xfrm>
            <a:off x="5935127" y="3657497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i="0" u="none" strike="noStrike" baseline="0" dirty="0" err="1">
                <a:latin typeface="Courier"/>
              </a:rPr>
              <a:t>Menjalankan</a:t>
            </a:r>
            <a:r>
              <a:rPr lang="en-ID" sz="2400" b="1" i="0" u="none" strike="noStrike" baseline="0" dirty="0">
                <a:latin typeface="Courier"/>
              </a:rPr>
              <a:t> Program </a:t>
            </a:r>
            <a:r>
              <a:rPr lang="en-ID" sz="1400" b="1" i="0" u="none" strike="noStrike" baseline="0" dirty="0">
                <a:latin typeface="Courier"/>
              </a:rPr>
              <a:t>geogrid.exe</a:t>
            </a:r>
            <a:endParaRPr lang="en-ID" sz="2400" dirty="0">
              <a:latin typeface="Courier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86BA23D-C799-1E49-2610-2DC37F0273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5632"/>
          <a:stretch>
            <a:fillRect/>
          </a:stretch>
        </p:blipFill>
        <p:spPr>
          <a:xfrm>
            <a:off x="5954824" y="4702274"/>
            <a:ext cx="4388076" cy="60455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C129DE6-2B76-D845-0D1B-1D0EF5CF9EC3}"/>
              </a:ext>
            </a:extLst>
          </p:cNvPr>
          <p:cNvSpPr txBox="1"/>
          <p:nvPr/>
        </p:nvSpPr>
        <p:spPr>
          <a:xfrm>
            <a:off x="5872480" y="5984135"/>
            <a:ext cx="613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800" b="1" i="0" u="none" strike="noStrike" baseline="0" dirty="0">
                <a:solidFill>
                  <a:srgbClr val="00B0F0"/>
                </a:solidFill>
                <a:latin typeface="Courier"/>
              </a:rPr>
              <a:t>geo_em.d01.nc geo_em.d02.nc geo_em.d03.nc</a:t>
            </a:r>
            <a:endParaRPr lang="en-ID" b="1" dirty="0">
              <a:solidFill>
                <a:srgbClr val="00B0F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84B892-AF3E-2A15-D37B-47135F8C1111}"/>
              </a:ext>
            </a:extLst>
          </p:cNvPr>
          <p:cNvSpPr txBox="1"/>
          <p:nvPr/>
        </p:nvSpPr>
        <p:spPr>
          <a:xfrm>
            <a:off x="5872480" y="5506140"/>
            <a:ext cx="530707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ID" sz="1800" b="0" i="0" u="none" strike="noStrike" baseline="0" dirty="0">
                <a:solidFill>
                  <a:srgbClr val="7143C3"/>
                </a:solidFill>
                <a:latin typeface="Courier"/>
              </a:rPr>
              <a:t>ls </a:t>
            </a:r>
            <a:r>
              <a:rPr lang="en-ID" sz="1800" b="0" i="0" u="none" strike="noStrike" baseline="0" dirty="0" err="1">
                <a:solidFill>
                  <a:srgbClr val="24292E"/>
                </a:solidFill>
                <a:latin typeface="Courier"/>
              </a:rPr>
              <a:t>geo_em</a:t>
            </a:r>
            <a:r>
              <a:rPr lang="en-ID" sz="1800" b="0" i="0" u="none" strike="noStrike" baseline="0" dirty="0">
                <a:solidFill>
                  <a:srgbClr val="D73B4A"/>
                </a:solidFill>
                <a:latin typeface="Courier"/>
              </a:rPr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4A8CF0-4293-65AC-65E1-9FA7DA1053F3}"/>
              </a:ext>
            </a:extLst>
          </p:cNvPr>
          <p:cNvSpPr txBox="1"/>
          <p:nvPr/>
        </p:nvSpPr>
        <p:spPr>
          <a:xfrm>
            <a:off x="448727" y="651610"/>
            <a:ext cx="4536930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cd $ODIR/WPS</a:t>
            </a:r>
            <a:endParaRPr lang="en-ID" sz="1600" b="1" dirty="0">
              <a:latin typeface="Courier"/>
            </a:endParaRPr>
          </a:p>
          <a:p>
            <a:r>
              <a:rPr lang="en-ID" sz="1600" b="1" dirty="0">
                <a:latin typeface="Courier"/>
              </a:rPr>
              <a:t>n</a:t>
            </a:r>
            <a:r>
              <a:rPr lang="en-ID" sz="1600" b="1" i="0" u="none" strike="noStrike" baseline="0" dirty="0">
                <a:latin typeface="Courier"/>
              </a:rPr>
              <a:t>ano </a:t>
            </a:r>
            <a:r>
              <a:rPr lang="en-ID" sz="1600" b="1" i="0" u="none" strike="noStrike" baseline="0" dirty="0" err="1">
                <a:latin typeface="Courier"/>
              </a:rPr>
              <a:t>namelist.wps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412994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7DC1-B6C2-6DA9-5B63-6DDE9CD7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05A001-D021-66B0-B607-63575F50271C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A1212C-81C2-EEA4-0368-8687E14458B3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Simulasi</a:t>
            </a:r>
            <a:r>
              <a:rPr lang="en-US" sz="3467" b="1" dirty="0">
                <a:solidFill>
                  <a:srgbClr val="FFFFFF"/>
                </a:solidFill>
              </a:rPr>
              <a:t> WRF ARW</a:t>
            </a:r>
            <a:endParaRPr lang="en-US" sz="3467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180213-06D9-117C-0467-F9920F7B7B76}"/>
              </a:ext>
            </a:extLst>
          </p:cNvPr>
          <p:cNvSpPr txBox="1"/>
          <p:nvPr/>
        </p:nvSpPr>
        <p:spPr>
          <a:xfrm>
            <a:off x="386080" y="3649288"/>
            <a:ext cx="11086253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ln -sf ~/WRF-Model/WPS/ungrib/Variable_Tables/Vtable.ERA-interim.pl </a:t>
            </a:r>
            <a:r>
              <a:rPr lang="en-US" sz="1600" dirty="0" err="1">
                <a:solidFill>
                  <a:srgbClr val="24292E"/>
                </a:solidFill>
                <a:latin typeface="Courier"/>
              </a:rPr>
              <a:t>Vtable</a:t>
            </a:r>
            <a:endParaRPr lang="en-US" sz="1600" dirty="0">
              <a:solidFill>
                <a:srgbClr val="24292E"/>
              </a:solidFill>
              <a:latin typeface="Courier"/>
            </a:endParaRPr>
          </a:p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ls</a:t>
            </a:r>
            <a:endParaRPr lang="en-ID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B82DE-790A-FD12-688A-B72B6AEAFAF8}"/>
              </a:ext>
            </a:extLst>
          </p:cNvPr>
          <p:cNvSpPr txBox="1"/>
          <p:nvPr/>
        </p:nvSpPr>
        <p:spPr>
          <a:xfrm>
            <a:off x="386080" y="687206"/>
            <a:ext cx="1025339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n-NO" sz="1800" b="1" i="0" u="none" strike="noStrike" baseline="0" dirty="0">
                <a:latin typeface="Courier"/>
              </a:rPr>
              <a:t>Menyambungkan File Data Masukan dan Tabel Variabel</a:t>
            </a:r>
          </a:p>
          <a:p>
            <a:pPr algn="l"/>
            <a:r>
              <a:rPr lang="en-ID" sz="2000" b="0" i="0" u="none" strike="noStrike" baseline="0" dirty="0">
                <a:latin typeface="Courier"/>
              </a:rPr>
              <a:t>WPS </a:t>
            </a:r>
            <a:r>
              <a:rPr lang="en-ID" sz="2000" b="0" i="0" u="none" strike="noStrike" baseline="0" dirty="0" err="1">
                <a:latin typeface="Courier"/>
              </a:rPr>
              <a:t>menyediakan</a:t>
            </a:r>
            <a:r>
              <a:rPr lang="en-ID" sz="2000" b="0" i="0" u="none" strike="noStrike" baseline="0" dirty="0">
                <a:latin typeface="Courier"/>
              </a:rPr>
              <a:t> program </a:t>
            </a:r>
            <a:r>
              <a:rPr lang="en-ID" sz="1200" b="0" i="0" u="none" strike="noStrike" baseline="0" dirty="0" err="1">
                <a:latin typeface="Courier"/>
              </a:rPr>
              <a:t>link_grib.csh</a:t>
            </a:r>
            <a:r>
              <a:rPr lang="en-ID" sz="1200" b="0" i="0" u="none" strike="noStrike" baseline="0" dirty="0">
                <a:latin typeface="Courier"/>
              </a:rPr>
              <a:t> </a:t>
            </a:r>
            <a:r>
              <a:rPr lang="en-ID" sz="2000" b="0" i="0" u="none" strike="noStrike" baseline="0" dirty="0" err="1">
                <a:latin typeface="Courier"/>
              </a:rPr>
              <a:t>untuk</a:t>
            </a:r>
            <a:r>
              <a:rPr lang="en-ID" sz="2000" b="0" i="0" u="none" strike="noStrike" baseline="0" dirty="0">
                <a:latin typeface="Courier"/>
              </a:rPr>
              <a:t> </a:t>
            </a:r>
            <a:r>
              <a:rPr lang="en-ID" sz="2000" b="0" i="0" u="none" strike="noStrike" baseline="0" dirty="0" err="1">
                <a:latin typeface="Courier"/>
              </a:rPr>
              <a:t>menyambungkan</a:t>
            </a:r>
            <a:r>
              <a:rPr lang="en-ID" sz="2000" b="0" i="0" u="none" strike="noStrike" baseline="0" dirty="0">
                <a:latin typeface="Courier"/>
              </a:rPr>
              <a:t> file data </a:t>
            </a:r>
            <a:r>
              <a:rPr lang="en-ID" sz="2000" b="0" i="0" u="none" strike="noStrike" baseline="0" dirty="0" err="1">
                <a:latin typeface="Courier"/>
              </a:rPr>
              <a:t>masukan</a:t>
            </a:r>
            <a:r>
              <a:rPr lang="en-ID" sz="2000" b="0" i="0" u="none" strike="noStrike" baseline="0" dirty="0">
                <a:latin typeface="Courier"/>
              </a:rPr>
              <a:t> </a:t>
            </a:r>
            <a:r>
              <a:rPr lang="en-ID" sz="2000" b="0" i="0" u="none" strike="noStrike" baseline="0" dirty="0" err="1">
                <a:latin typeface="Courier"/>
              </a:rPr>
              <a:t>ke</a:t>
            </a:r>
            <a:r>
              <a:rPr lang="en-ID" sz="2000" b="0" i="0" u="none" strike="noStrike" baseline="0" dirty="0">
                <a:latin typeface="Courier"/>
              </a:rPr>
              <a:t> </a:t>
            </a:r>
            <a:r>
              <a:rPr lang="en-ID" sz="2000" b="0" i="0" u="none" strike="noStrike" baseline="0" dirty="0" err="1">
                <a:latin typeface="Courier"/>
              </a:rPr>
              <a:t>dalam</a:t>
            </a:r>
            <a:r>
              <a:rPr lang="en-ID" sz="2000" b="0" i="0" u="none" strike="noStrike" baseline="0" dirty="0">
                <a:latin typeface="Courier"/>
              </a:rPr>
              <a:t> folder </a:t>
            </a:r>
            <a:r>
              <a:rPr lang="en-ID" sz="1200" b="0" i="0" u="none" strike="noStrike" baseline="0" dirty="0">
                <a:latin typeface="Courier"/>
              </a:rPr>
              <a:t>WPS/ </a:t>
            </a:r>
            <a:r>
              <a:rPr lang="en-ID" sz="2000" b="0" i="0" u="none" strike="noStrike" baseline="0" dirty="0" err="1">
                <a:latin typeface="Courier"/>
              </a:rPr>
              <a:t>dengan</a:t>
            </a:r>
            <a:r>
              <a:rPr lang="en-ID" sz="2000" b="0" i="0" u="none" strike="noStrike" baseline="0" dirty="0">
                <a:latin typeface="Courier"/>
              </a:rPr>
              <a:t> </a:t>
            </a:r>
            <a:r>
              <a:rPr lang="en-ID" sz="2000" b="0" i="0" u="none" strike="noStrike" baseline="0" dirty="0" err="1">
                <a:latin typeface="Courier"/>
              </a:rPr>
              <a:t>membuat</a:t>
            </a:r>
            <a:r>
              <a:rPr lang="en-ID" sz="2000" b="0" i="0" u="none" strike="noStrike" baseline="0" dirty="0">
                <a:latin typeface="Courier"/>
              </a:rPr>
              <a:t> shortcut yang </a:t>
            </a:r>
            <a:r>
              <a:rPr lang="en-ID" sz="2000" b="0" i="0" u="none" strike="noStrike" baseline="0" dirty="0" err="1">
                <a:latin typeface="Courier"/>
              </a:rPr>
              <a:t>bernama</a:t>
            </a:r>
            <a:r>
              <a:rPr lang="en-ID" sz="2000" b="0" i="0" u="none" strike="noStrike" baseline="0" dirty="0">
                <a:latin typeface="Courier"/>
              </a:rPr>
              <a:t> </a:t>
            </a:r>
            <a:r>
              <a:rPr lang="en-ID" sz="1200" b="0" i="0" u="none" strike="noStrike" baseline="0" dirty="0">
                <a:latin typeface="Courier"/>
              </a:rPr>
              <a:t>GRIBFILE.* </a:t>
            </a:r>
            <a:r>
              <a:rPr lang="en-ID" sz="2000" b="0" i="0" u="none" strike="noStrike" baseline="0" dirty="0">
                <a:latin typeface="Courier"/>
              </a:rPr>
              <a:t>(</a:t>
            </a:r>
            <a:r>
              <a:rPr lang="en-ID" sz="1200" b="0" i="0" u="none" strike="noStrike" baseline="0" dirty="0">
                <a:latin typeface="Courier"/>
              </a:rPr>
              <a:t>GRIBFILE.AAA</a:t>
            </a:r>
            <a:r>
              <a:rPr lang="en-ID" sz="2000" b="0" i="0" u="none" strike="noStrike" baseline="0" dirty="0">
                <a:latin typeface="Courier"/>
              </a:rPr>
              <a:t>, </a:t>
            </a:r>
            <a:r>
              <a:rPr lang="en-ID" sz="1200" b="0" i="0" u="none" strike="noStrike" baseline="0" dirty="0">
                <a:latin typeface="Courier"/>
              </a:rPr>
              <a:t>GRIBFILE.AAB</a:t>
            </a:r>
            <a:r>
              <a:rPr lang="en-ID" sz="2000" b="0" i="0" u="none" strike="noStrike" baseline="0" dirty="0">
                <a:latin typeface="Courier"/>
              </a:rPr>
              <a:t>, …). </a:t>
            </a:r>
            <a:endParaRPr lang="en-ID" sz="2000" dirty="0">
              <a:latin typeface="Couri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9ABFCB-FA84-2093-9D26-55F9C0125EC4}"/>
              </a:ext>
            </a:extLst>
          </p:cNvPr>
          <p:cNvSpPr txBox="1"/>
          <p:nvPr/>
        </p:nvSpPr>
        <p:spPr>
          <a:xfrm>
            <a:off x="482333" y="2071690"/>
            <a:ext cx="72390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4292E"/>
                </a:solidFill>
                <a:latin typeface="Courier"/>
              </a:rPr>
              <a:t>./</a:t>
            </a:r>
            <a:r>
              <a:rPr lang="en-US" sz="1800" dirty="0" err="1">
                <a:solidFill>
                  <a:srgbClr val="24292E"/>
                </a:solidFill>
                <a:latin typeface="Courier"/>
              </a:rPr>
              <a:t>link_grib.csh</a:t>
            </a:r>
            <a:r>
              <a:rPr lang="en-US" sz="1800" dirty="0">
                <a:solidFill>
                  <a:srgbClr val="24292E"/>
                </a:solidFill>
                <a:latin typeface="Courier"/>
              </a:rPr>
              <a:t> /</a:t>
            </a:r>
            <a:r>
              <a:rPr lang="en-US" sz="1800" dirty="0" err="1">
                <a:solidFill>
                  <a:srgbClr val="24292E"/>
                </a:solidFill>
                <a:latin typeface="Courier"/>
              </a:rPr>
              <a:t>mnt</a:t>
            </a:r>
            <a:r>
              <a:rPr lang="en-US" sz="1800" dirty="0">
                <a:solidFill>
                  <a:srgbClr val="24292E"/>
                </a:solidFill>
                <a:latin typeface="Courier"/>
              </a:rPr>
              <a:t>/c/Users/m2tau/Downloads/ERA5/*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BE5B96-2F0B-1151-8E07-A1F3117FC80A}"/>
              </a:ext>
            </a:extLst>
          </p:cNvPr>
          <p:cNvSpPr txBox="1"/>
          <p:nvPr/>
        </p:nvSpPr>
        <p:spPr>
          <a:xfrm>
            <a:off x="386080" y="2954537"/>
            <a:ext cx="10706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800" b="0" i="0" u="none" strike="noStrike" baseline="0" dirty="0" err="1">
                <a:latin typeface="Courier"/>
              </a:rPr>
              <a:t>Kemudian</a:t>
            </a:r>
            <a:r>
              <a:rPr lang="en-ID" sz="1800" b="0" i="0" u="none" strike="noStrike" baseline="0" dirty="0">
                <a:latin typeface="Courier"/>
              </a:rPr>
              <a:t>, </a:t>
            </a:r>
            <a:r>
              <a:rPr lang="en-ID" sz="1800" b="0" i="0" u="none" strike="noStrike" baseline="0" dirty="0" err="1">
                <a:latin typeface="Courier"/>
              </a:rPr>
              <a:t>buatlah</a:t>
            </a:r>
            <a:r>
              <a:rPr lang="en-ID" sz="1800" b="0" i="0" u="none" strike="noStrike" baseline="0" dirty="0">
                <a:latin typeface="Courier"/>
              </a:rPr>
              <a:t> shortcut </a:t>
            </a:r>
            <a:r>
              <a:rPr lang="en-ID" sz="1800" b="0" i="0" u="none" strike="noStrike" baseline="0" dirty="0" err="1">
                <a:latin typeface="Courier"/>
              </a:rPr>
              <a:t>dengan</a:t>
            </a:r>
            <a:r>
              <a:rPr lang="en-ID" sz="1800" b="0" i="0" u="none" strike="noStrike" baseline="0" dirty="0">
                <a:latin typeface="Courier"/>
              </a:rPr>
              <a:t> nama </a:t>
            </a:r>
            <a:r>
              <a:rPr lang="en-ID" sz="1800" b="0" i="0" u="none" strike="noStrike" baseline="0" dirty="0" err="1">
                <a:latin typeface="Courier"/>
              </a:rPr>
              <a:t>Vtable</a:t>
            </a:r>
            <a:r>
              <a:rPr lang="en-ID" sz="1800" b="0" i="0" u="none" strike="noStrike" baseline="0" dirty="0">
                <a:latin typeface="Courier"/>
              </a:rPr>
              <a:t> di </a:t>
            </a:r>
            <a:r>
              <a:rPr lang="en-ID" sz="1800" b="0" i="0" u="none" strike="noStrike" baseline="0" dirty="0" err="1">
                <a:latin typeface="Courier"/>
              </a:rPr>
              <a:t>dalam</a:t>
            </a:r>
            <a:r>
              <a:rPr lang="en-ID" sz="1800" b="0" i="0" u="none" strike="noStrike" baseline="0" dirty="0">
                <a:latin typeface="Courier"/>
              </a:rPr>
              <a:t> folder </a:t>
            </a:r>
            <a:r>
              <a:rPr lang="en-ID" sz="1100" b="0" i="0" u="none" strike="noStrike" baseline="0" dirty="0">
                <a:latin typeface="Courier"/>
              </a:rPr>
              <a:t>WPS/ </a:t>
            </a:r>
            <a:r>
              <a:rPr lang="en-ID" sz="1800" b="0" i="0" u="none" strike="noStrike" baseline="0" dirty="0" err="1">
                <a:latin typeface="Courier"/>
              </a:rPr>
              <a:t>dari</a:t>
            </a:r>
            <a:r>
              <a:rPr lang="en-ID" sz="1800" b="0" i="0" u="none" strike="noStrike" baseline="0" dirty="0">
                <a:latin typeface="Courier"/>
              </a:rPr>
              <a:t> file yang </a:t>
            </a:r>
            <a:r>
              <a:rPr lang="en-ID" sz="1800" b="0" i="0" u="none" strike="noStrike" baseline="0" dirty="0" err="1">
                <a:latin typeface="Courier"/>
              </a:rPr>
              <a:t>berada</a:t>
            </a:r>
            <a:r>
              <a:rPr lang="en-ID" sz="1800" b="0" i="0" u="none" strike="noStrike" baseline="0" dirty="0">
                <a:latin typeface="Courier"/>
              </a:rPr>
              <a:t> di </a:t>
            </a:r>
            <a:r>
              <a:rPr lang="en-ID" sz="1800" b="0" i="0" u="none" strike="noStrike" baseline="0" dirty="0" err="1">
                <a:latin typeface="Courier"/>
              </a:rPr>
              <a:t>dalam</a:t>
            </a:r>
            <a:r>
              <a:rPr lang="en-ID" dirty="0">
                <a:latin typeface="Courier"/>
              </a:rPr>
              <a:t> </a:t>
            </a:r>
            <a:r>
              <a:rPr lang="en-ID" sz="1800" b="0" i="0" u="none" strike="noStrike" baseline="0" dirty="0">
                <a:latin typeface="Courier"/>
              </a:rPr>
              <a:t>folder </a:t>
            </a:r>
            <a:r>
              <a:rPr lang="en-ID" sz="1100" b="0" i="0" u="none" strike="noStrike" baseline="0" dirty="0" err="1">
                <a:latin typeface="Courier"/>
              </a:rPr>
              <a:t>ungrib</a:t>
            </a:r>
            <a:r>
              <a:rPr lang="en-ID" sz="1100" b="0" i="0" u="none" strike="noStrike" baseline="0" dirty="0">
                <a:latin typeface="Courier"/>
              </a:rPr>
              <a:t>/</a:t>
            </a:r>
            <a:r>
              <a:rPr lang="en-ID" sz="1100" b="0" i="0" u="none" strike="noStrike" baseline="0" dirty="0" err="1">
                <a:latin typeface="Courier"/>
              </a:rPr>
              <a:t>Variable_Tables</a:t>
            </a:r>
            <a:endParaRPr lang="en-ID" dirty="0">
              <a:latin typeface="Courier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36E355-39EE-8D20-019B-7C35D0F9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34"/>
          <a:stretch>
            <a:fillRect/>
          </a:stretch>
        </p:blipFill>
        <p:spPr>
          <a:xfrm>
            <a:off x="187021" y="4282483"/>
            <a:ext cx="11817957" cy="7446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CCED64-DB3F-AD17-08C9-B31B2D7BE71B}"/>
              </a:ext>
            </a:extLst>
          </p:cNvPr>
          <p:cNvSpPr txBox="1"/>
          <p:nvPr/>
        </p:nvSpPr>
        <p:spPr>
          <a:xfrm>
            <a:off x="8299918" y="1766678"/>
            <a:ext cx="3506002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D" sz="1800" i="0" u="none" strike="noStrike" baseline="0" dirty="0">
                <a:latin typeface="Courier"/>
              </a:rPr>
              <a:t>ERA5 </a:t>
            </a:r>
            <a:r>
              <a:rPr lang="en-ID" sz="1800" i="0" u="none" strike="noStrike" baseline="0" dirty="0" err="1">
                <a:latin typeface="Courier"/>
              </a:rPr>
              <a:t>adalah</a:t>
            </a:r>
            <a:r>
              <a:rPr lang="en-ID" sz="1800" i="0" u="none" strike="noStrike" baseline="0" dirty="0">
                <a:latin typeface="Courier"/>
              </a:rPr>
              <a:t> folder </a:t>
            </a:r>
            <a:r>
              <a:rPr lang="en-ID" sz="1800" i="0" u="none" strike="noStrike" baseline="0" dirty="0" err="1">
                <a:latin typeface="Courier"/>
              </a:rPr>
              <a:t>berisi</a:t>
            </a:r>
            <a:r>
              <a:rPr lang="en-ID" sz="1800" i="0" u="none" strike="noStrike" baseline="0" dirty="0">
                <a:latin typeface="Courier"/>
              </a:rPr>
              <a:t> data ERA5 </a:t>
            </a:r>
            <a:r>
              <a:rPr lang="en-ID" sz="1800" i="0" u="none" strike="noStrike" baseline="0" dirty="0" err="1">
                <a:latin typeface="Courier"/>
              </a:rPr>
              <a:t>inputan</a:t>
            </a:r>
            <a:r>
              <a:rPr lang="en-ID" sz="1800" i="0" u="none" strike="noStrike" baseline="0" dirty="0">
                <a:latin typeface="Courier"/>
              </a:rPr>
              <a:t> </a:t>
            </a:r>
            <a:r>
              <a:rPr lang="en-ID" sz="1800" i="0" u="none" strike="noStrike" baseline="0" dirty="0" err="1">
                <a:latin typeface="Courier"/>
              </a:rPr>
              <a:t>untuk</a:t>
            </a:r>
            <a:r>
              <a:rPr lang="en-ID" sz="1800" i="0" u="none" strike="noStrike" baseline="0" dirty="0">
                <a:latin typeface="Courier"/>
              </a:rPr>
              <a:t> WRF. </a:t>
            </a:r>
            <a:r>
              <a:rPr lang="en-ID" sz="1800" i="0" u="none" strike="noStrike" baseline="0" dirty="0" err="1">
                <a:latin typeface="Courier"/>
              </a:rPr>
              <a:t>Sesuaikan</a:t>
            </a:r>
            <a:r>
              <a:rPr lang="en-ID" sz="1800" i="0" u="none" strike="noStrike" baseline="0" dirty="0">
                <a:latin typeface="Courier"/>
              </a:rPr>
              <a:t> path 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C06F6B-3612-34EB-4FA5-9CE8182D2CB5}"/>
              </a:ext>
            </a:extLst>
          </p:cNvPr>
          <p:cNvSpPr txBox="1"/>
          <p:nvPr/>
        </p:nvSpPr>
        <p:spPr>
          <a:xfrm>
            <a:off x="386080" y="5170094"/>
            <a:ext cx="11958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1600" b="1" i="0" u="none" strike="noStrike" baseline="0" dirty="0">
                <a:solidFill>
                  <a:srgbClr val="000000"/>
                </a:solidFill>
                <a:latin typeface="Courier"/>
              </a:rPr>
              <a:t>Menjalankan Program ungrib.exe</a:t>
            </a:r>
          </a:p>
          <a:p>
            <a:pPr algn="l"/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Setelah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menyambungkan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data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masukan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serta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tabel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variabel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,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jalankan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program ungrib.exe: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1D6235-078E-FAF7-2485-05968CB64F51}"/>
              </a:ext>
            </a:extLst>
          </p:cNvPr>
          <p:cNvSpPr txBox="1"/>
          <p:nvPr/>
        </p:nvSpPr>
        <p:spPr>
          <a:xfrm>
            <a:off x="6918401" y="5846432"/>
            <a:ext cx="4791266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Luaran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dari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program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ini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adalah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file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dengan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nama FILE:* yang 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memiliki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format .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nc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 (</a:t>
            </a:r>
            <a:r>
              <a:rPr lang="en-ID" sz="1600" b="0" i="0" u="none" strike="noStrike" baseline="0" dirty="0" err="1">
                <a:solidFill>
                  <a:srgbClr val="000000"/>
                </a:solidFill>
                <a:latin typeface="Courier"/>
              </a:rPr>
              <a:t>netcdf</a:t>
            </a:r>
            <a:r>
              <a:rPr lang="en-ID" sz="1600" b="0" i="0" u="none" strike="noStrike" baseline="0" dirty="0">
                <a:solidFill>
                  <a:srgbClr val="000000"/>
                </a:solidFill>
                <a:latin typeface="Courier"/>
              </a:rPr>
              <a:t>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0F0943-DCEC-9009-1FD5-5C30D59D655F}"/>
              </a:ext>
            </a:extLst>
          </p:cNvPr>
          <p:cNvSpPr txBox="1"/>
          <p:nvPr/>
        </p:nvSpPr>
        <p:spPr>
          <a:xfrm>
            <a:off x="482333" y="5801462"/>
            <a:ext cx="344569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ID" sz="1800" b="1" i="0" u="none" strike="noStrike" baseline="0" dirty="0">
                <a:solidFill>
                  <a:srgbClr val="D73B4A"/>
                </a:solidFill>
                <a:latin typeface="Courier"/>
              </a:rPr>
              <a:t>./ungrib.exe</a:t>
            </a:r>
          </a:p>
        </p:txBody>
      </p:sp>
    </p:spTree>
    <p:extLst>
      <p:ext uri="{BB962C8B-B14F-4D97-AF65-F5344CB8AC3E}">
        <p14:creationId xmlns:p14="http://schemas.microsoft.com/office/powerpoint/2010/main" val="308916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43F1-19CF-5E88-0207-2DE9A9DB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D0083C-A71E-BEE9-E428-967E86F9B88A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A7309E-6762-35D2-7F00-4EEECDFD1C8C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Simulasi</a:t>
            </a:r>
            <a:r>
              <a:rPr lang="en-US" sz="3467" b="1" dirty="0">
                <a:solidFill>
                  <a:srgbClr val="FFFFFF"/>
                </a:solidFill>
              </a:rPr>
              <a:t> WRF ARW</a:t>
            </a:r>
            <a:endParaRPr lang="en-US" sz="3467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096A85-ACCE-25CD-9355-E2733B06F46F}"/>
              </a:ext>
            </a:extLst>
          </p:cNvPr>
          <p:cNvSpPr txBox="1"/>
          <p:nvPr/>
        </p:nvSpPr>
        <p:spPr>
          <a:xfrm>
            <a:off x="625285" y="3955154"/>
            <a:ext cx="8430260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cd WRF</a:t>
            </a:r>
          </a:p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ln -sf ~/WRF-Model/WPS/</a:t>
            </a:r>
            <a:r>
              <a:rPr lang="en-US" sz="1600" dirty="0" err="1">
                <a:solidFill>
                  <a:srgbClr val="24292E"/>
                </a:solidFill>
                <a:latin typeface="Courier"/>
              </a:rPr>
              <a:t>met_em</a:t>
            </a:r>
            <a:r>
              <a:rPr lang="en-US" sz="1600" dirty="0">
                <a:solidFill>
                  <a:srgbClr val="24292E"/>
                </a:solidFill>
                <a:latin typeface="Courier"/>
              </a:rPr>
              <a:t>* ~/WRF-Model/WRF/test/</a:t>
            </a:r>
            <a:r>
              <a:rPr lang="en-US" sz="1600" dirty="0" err="1">
                <a:solidFill>
                  <a:srgbClr val="24292E"/>
                </a:solidFill>
                <a:latin typeface="Courier"/>
              </a:rPr>
              <a:t>em_real</a:t>
            </a:r>
            <a:endParaRPr lang="en-US" sz="1600" dirty="0">
              <a:solidFill>
                <a:srgbClr val="24292E"/>
              </a:solidFill>
              <a:latin typeface="Couri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6270D-BF21-4873-42E4-6451ECFA581B}"/>
              </a:ext>
            </a:extLst>
          </p:cNvPr>
          <p:cNvSpPr txBox="1"/>
          <p:nvPr/>
        </p:nvSpPr>
        <p:spPr>
          <a:xfrm>
            <a:off x="489818" y="757843"/>
            <a:ext cx="113161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sv-SE" sz="2400" b="1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sv-SE" sz="2400" b="1" i="0" u="none" strike="noStrike" baseline="0" dirty="0">
                <a:solidFill>
                  <a:srgbClr val="000000"/>
                </a:solidFill>
                <a:latin typeface="Courier"/>
              </a:rPr>
              <a:t>Menjalankan Program </a:t>
            </a:r>
            <a:r>
              <a:rPr lang="sv-SE" sz="1400" b="1" i="0" u="none" strike="noStrike" baseline="0" dirty="0">
                <a:solidFill>
                  <a:srgbClr val="000000"/>
                </a:solidFill>
                <a:latin typeface="Courier"/>
              </a:rPr>
              <a:t>metgrid.exe</a:t>
            </a:r>
          </a:p>
          <a:p>
            <a:pPr algn="l"/>
            <a:r>
              <a:rPr lang="en-ID" sz="2400" b="0" i="0" u="none" strike="noStrike" baseline="0" dirty="0" err="1">
                <a:solidFill>
                  <a:srgbClr val="000000"/>
                </a:solidFill>
                <a:latin typeface="Courier"/>
              </a:rPr>
              <a:t>Jalankan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Courier"/>
              </a:rPr>
              <a:t> program </a:t>
            </a:r>
            <a:r>
              <a:rPr lang="en-ID" sz="1400" b="0" i="0" u="none" strike="noStrike" baseline="0" dirty="0">
                <a:solidFill>
                  <a:srgbClr val="000000"/>
                </a:solidFill>
                <a:latin typeface="Courier"/>
              </a:rPr>
              <a:t>metgrid.exe 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Courier"/>
              </a:rPr>
              <a:t>dengan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Courier"/>
              </a:rPr>
              <a:t>perintah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ID" sz="2400" b="0" i="0" u="none" strike="noStrike" baseline="0" dirty="0" err="1">
                <a:solidFill>
                  <a:srgbClr val="000000"/>
                </a:solidFill>
                <a:latin typeface="Courier"/>
              </a:rPr>
              <a:t>berikut</a:t>
            </a:r>
            <a:r>
              <a:rPr lang="en-ID" sz="2400" b="0" i="0" u="none" strike="noStrike" baseline="0" dirty="0">
                <a:solidFill>
                  <a:srgbClr val="000000"/>
                </a:solidFill>
                <a:latin typeface="Courier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759989-4B28-4FAD-27EF-5E52F3FBAF0A}"/>
              </a:ext>
            </a:extLst>
          </p:cNvPr>
          <p:cNvSpPr txBox="1"/>
          <p:nvPr/>
        </p:nvSpPr>
        <p:spPr>
          <a:xfrm>
            <a:off x="625284" y="3268134"/>
            <a:ext cx="10972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n-NO" sz="1800" b="0" i="0" u="none" strike="noStrike" baseline="0" dirty="0">
                <a:solidFill>
                  <a:srgbClr val="000000"/>
                </a:solidFill>
                <a:latin typeface="Courier"/>
              </a:rPr>
              <a:t>File-file ini nanti yang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akan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dipindahkan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menuju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folder 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ourier"/>
              </a:rPr>
              <a:t>WRF/test/</a:t>
            </a:r>
            <a:r>
              <a:rPr lang="en-US" sz="1100" b="0" i="0" u="none" strike="noStrike" baseline="0" dirty="0" err="1">
                <a:solidFill>
                  <a:srgbClr val="000000"/>
                </a:solidFill>
                <a:latin typeface="Courier"/>
              </a:rPr>
              <a:t>em_real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atau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Anda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dapat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juga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"/>
              </a:rPr>
              <a:t>membuat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"/>
              </a:rPr>
              <a:t> shortcut. </a:t>
            </a:r>
            <a:endParaRPr lang="en-ID" sz="1800" dirty="0">
              <a:latin typeface="Couri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B9A3D-81C0-462B-2D70-824CA9F2A18D}"/>
              </a:ext>
            </a:extLst>
          </p:cNvPr>
          <p:cNvSpPr txBox="1"/>
          <p:nvPr/>
        </p:nvSpPr>
        <p:spPr>
          <a:xfrm>
            <a:off x="552873" y="2449592"/>
            <a:ext cx="9323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n-NO" sz="1800" b="0" i="0" u="none" strike="noStrike" baseline="0" dirty="0">
                <a:solidFill>
                  <a:srgbClr val="000000"/>
                </a:solidFill>
                <a:latin typeface="Courier"/>
              </a:rPr>
              <a:t>Luaran dari program ini adalah file dengan nama </a:t>
            </a:r>
            <a:r>
              <a:rPr lang="nn-NO" sz="1100" b="0" i="0" u="none" strike="noStrike" baseline="0" dirty="0">
                <a:solidFill>
                  <a:srgbClr val="000000"/>
                </a:solidFill>
                <a:latin typeface="Courier"/>
              </a:rPr>
              <a:t>met_em* 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ourier"/>
              </a:rPr>
              <a:t>yang memiliki format </a:t>
            </a:r>
            <a:r>
              <a:rPr lang="nn-NO" sz="1100" b="0" i="0" u="none" strike="noStrike" baseline="0" dirty="0">
                <a:solidFill>
                  <a:srgbClr val="000000"/>
                </a:solidFill>
                <a:latin typeface="Courier"/>
              </a:rPr>
              <a:t>.nc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ourier"/>
              </a:rPr>
              <a:t>. </a:t>
            </a:r>
            <a:endParaRPr lang="en-ID" sz="1800" dirty="0">
              <a:latin typeface="Couri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1DD8B-A8D8-57E5-43AD-06C01991CE09}"/>
              </a:ext>
            </a:extLst>
          </p:cNvPr>
          <p:cNvSpPr txBox="1"/>
          <p:nvPr/>
        </p:nvSpPr>
        <p:spPr>
          <a:xfrm>
            <a:off x="625285" y="1987538"/>
            <a:ext cx="609600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/>
            <a:r>
              <a:rPr lang="en-ID" sz="1800" b="1" i="0" u="none" strike="noStrike" baseline="0" dirty="0">
                <a:solidFill>
                  <a:srgbClr val="D73B4A"/>
                </a:solidFill>
                <a:latin typeface="Courier"/>
              </a:rPr>
              <a:t>./metgrid.exe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70554-22AE-4BAD-DBE1-E8B386E809CF}"/>
              </a:ext>
            </a:extLst>
          </p:cNvPr>
          <p:cNvSpPr txBox="1"/>
          <p:nvPr/>
        </p:nvSpPr>
        <p:spPr>
          <a:xfrm>
            <a:off x="625285" y="4639652"/>
            <a:ext cx="8430260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4292E"/>
                </a:solidFill>
                <a:latin typeface="Courier"/>
              </a:rPr>
              <a:t>nano </a:t>
            </a:r>
            <a:r>
              <a:rPr lang="en-US" sz="1600" dirty="0" err="1">
                <a:solidFill>
                  <a:srgbClr val="24292E"/>
                </a:solidFill>
                <a:latin typeface="Courier"/>
              </a:rPr>
              <a:t>namelist.input</a:t>
            </a:r>
            <a:endParaRPr lang="en-US" sz="1600" dirty="0">
              <a:solidFill>
                <a:srgbClr val="24292E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403208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2FCAF-008C-6F07-C7BE-345E7FFB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18F11E-3E13-9A39-BD46-16376C7347D9}"/>
              </a:ext>
            </a:extLst>
          </p:cNvPr>
          <p:cNvSpPr/>
          <p:nvPr/>
        </p:nvSpPr>
        <p:spPr>
          <a:xfrm>
            <a:off x="0" y="-60960"/>
            <a:ext cx="12192000" cy="681325"/>
          </a:xfrm>
          <a:prstGeom prst="rect">
            <a:avLst/>
          </a:prstGeom>
          <a:solidFill>
            <a:srgbClr val="06102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CC2675-DC0B-E67E-D82A-629D2B93FD9B}"/>
              </a:ext>
            </a:extLst>
          </p:cNvPr>
          <p:cNvSpPr/>
          <p:nvPr/>
        </p:nvSpPr>
        <p:spPr>
          <a:xfrm>
            <a:off x="386080" y="-238457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 err="1">
                <a:solidFill>
                  <a:srgbClr val="FFFFFF"/>
                </a:solidFill>
              </a:rPr>
              <a:t>Simulasi</a:t>
            </a:r>
            <a:r>
              <a:rPr lang="en-US" sz="3467" b="1" dirty="0">
                <a:solidFill>
                  <a:srgbClr val="FFFFFF"/>
                </a:solidFill>
              </a:rPr>
              <a:t> WRF ARW</a:t>
            </a:r>
            <a:endParaRPr lang="en-US" sz="34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61473-3962-E400-7245-2C1A0FDA5CF6}"/>
              </a:ext>
            </a:extLst>
          </p:cNvPr>
          <p:cNvSpPr txBox="1"/>
          <p:nvPr/>
        </p:nvSpPr>
        <p:spPr>
          <a:xfrm>
            <a:off x="489818" y="757843"/>
            <a:ext cx="1131610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000" b="1" i="0" u="none" strike="noStrike" baseline="0" dirty="0">
                <a:solidFill>
                  <a:srgbClr val="000000"/>
                </a:solidFill>
                <a:latin typeface="Courier"/>
              </a:rPr>
              <a:t>Menjalankan program real.exe dan wrf.exe</a:t>
            </a:r>
          </a:p>
          <a:p>
            <a:pPr algn="l"/>
            <a:endParaRPr lang="sv-SE" sz="160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sv-SE" sz="1600" i="0" u="none" strike="noStrike" baseline="0" dirty="0">
                <a:solidFill>
                  <a:srgbClr val="000000"/>
                </a:solidFill>
                <a:latin typeface="Courier"/>
              </a:rPr>
              <a:t>Program real.exe mengeluarkan file-file dalam format .nc, yaitu wrfbdy_d01 dan wrfinput_&lt;domain&gt;.</a:t>
            </a:r>
          </a:p>
          <a:p>
            <a:pPr algn="l"/>
            <a:r>
              <a:rPr lang="sv-SE" sz="1600" b="1" i="0" u="none" strike="noStrike" baseline="0" dirty="0">
                <a:solidFill>
                  <a:srgbClr val="FF0000"/>
                </a:solidFill>
                <a:highlight>
                  <a:srgbClr val="00FFFF"/>
                </a:highlight>
                <a:latin typeface="Courier"/>
              </a:rPr>
              <a:t>./real.exe</a:t>
            </a:r>
          </a:p>
          <a:p>
            <a:pPr algn="l"/>
            <a:endParaRPr lang="sv-SE" sz="160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sv-SE" sz="1600" i="0" u="none" strike="noStrike" baseline="0" dirty="0">
                <a:solidFill>
                  <a:srgbClr val="000000"/>
                </a:solidFill>
                <a:latin typeface="Courier"/>
              </a:rPr>
              <a:t>Jika respon yang diberikan terdapat kalimat real_em: SUCCESS COMPLETE REAL_EM INIT, Anda bisa melanjutkan ke tahapan wrf.exe.</a:t>
            </a:r>
          </a:p>
          <a:p>
            <a:pPr algn="l"/>
            <a:r>
              <a:rPr lang="sv-SE" sz="1600" b="1" i="0" u="none" strike="noStrike" baseline="0" dirty="0">
                <a:solidFill>
                  <a:srgbClr val="FF0000"/>
                </a:solidFill>
                <a:highlight>
                  <a:srgbClr val="00FFFF"/>
                </a:highlight>
                <a:latin typeface="Courier"/>
              </a:rPr>
              <a:t>./wrf.exe</a:t>
            </a:r>
          </a:p>
          <a:p>
            <a:pPr algn="l"/>
            <a:endParaRPr lang="sv-SE" sz="1600" i="0" u="none" strike="noStrike" baseline="0" dirty="0">
              <a:solidFill>
                <a:srgbClr val="000000"/>
              </a:solidFill>
              <a:latin typeface="Courier"/>
            </a:endParaRPr>
          </a:p>
          <a:p>
            <a:pPr algn="l"/>
            <a:r>
              <a:rPr lang="sv-SE" sz="1600" i="0" u="none" strike="noStrike" baseline="0" dirty="0">
                <a:solidFill>
                  <a:srgbClr val="000000"/>
                </a:solidFill>
                <a:latin typeface="Courier"/>
              </a:rPr>
              <a:t>Untuk simulasi ini, terdapat 3 file wrfout_d0*: wrfout_d01_2022-01-01_00:00:00, wrfout_d02_2022-01-01_00:00:00, dan wrfout_d03_2022-01-01_00:00:00. </a:t>
            </a:r>
            <a:endParaRPr lang="en-ID" sz="1600" i="0" u="none" strike="noStrike" baseline="0" dirty="0">
              <a:solidFill>
                <a:srgbClr val="000000"/>
              </a:solidFill>
              <a:latin typeface="Couri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B4B75-2E23-90E9-4674-73453FDFA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200" y="3866386"/>
            <a:ext cx="6516658" cy="281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4029</TotalTime>
  <Words>2032</Words>
  <Application>Microsoft Office PowerPoint</Application>
  <PresentationFormat>Widescreen</PresentationFormat>
  <Paragraphs>345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Courier</vt:lpstr>
      <vt:lpstr>Courier New</vt:lpstr>
      <vt:lpstr>Courier-Bold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Agromet</dc:creator>
  <cp:lastModifiedBy>Agromet</cp:lastModifiedBy>
  <cp:revision>8</cp:revision>
  <dcterms:created xsi:type="dcterms:W3CDTF">2026-03-13T13:04:27Z</dcterms:created>
  <dcterms:modified xsi:type="dcterms:W3CDTF">2026-04-29T03:02:35Z</dcterms:modified>
</cp:coreProperties>
</file>